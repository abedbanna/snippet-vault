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Recap Session 1 in two sentences: an agent is model, tools, memory and instructions; the instructions are the part you own. This session is about writing those instructions so they work inside an automation, not just in a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a five-template prompt library plus a tested department assistant. Both are reused on Day 3 (the templates go into n8n AI nodes) and Day 4 (the assistant becomes an agent).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is split into three short bursts so participants see each idea working right after hearing it. Keep each burst under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 analogy carries the whole session. Every time a prompt fails, ask 'what would a temp have needed to know?'. Participants who manage people find this immediately natural.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reframes prompting from a creative skill to an operations skill. The test is not 'did I like the answer' but 'would the same prompt give the same shape of answer on the next hundred emails'.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Session 1: the context window is the model's whole world for this task. Your policies, your definitions of 'urgent', your team's vocabulary are not in it unless you put them there. That is what the 'context' part of a prompt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weak prompts are missing two of these, usually context and output format. Have participants hold up fingers for the five parts; you will refer to them by number for the rest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(demo burst 1). The answer will be fluent and useless: a paragraph, a different one each time, and the model has decided for itself what 'what to do' means.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on the same email. Point at each of the five parts as you read. Then edit the email so the urgency is genuinely ambiguous and run again: the model writes 'unclear'. That moment is the whole point of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right-hand column is a diagnostic table. When a prompt misbehaves, find the symptom here and add the missing part. Participants will use the same idea in the symptom table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twice. On Day 3 the 'unclear' output becomes a branch in n8n that routes the item to a person. On Day 5 it is the basis of the human-in-the-loop pattern. One sentence in a prompt, one control in a workflow.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point for operators: the 'Role' line is not decoration. It changes vocabulary, assumed knowledge and tone so much that research systems are built from nothing but roles talking to each other.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Preview of Day 5's multi-agent patterns. Keep it to one sentence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triage note from the 'After' prompt again and point out that each labelled line is a column. On Day 3 those lines are mapped to spreadsheet columns and Slack messages with no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2. Classify three messages, one awkward ('My invoice is wrong AND the portal is down'). Then change an example and show the classification move. Models copy patterns better than they follow descriptions; two or three worked examples beat a paragraph of rules.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operators: if a classification needs a judgement ('is this a complaint or a question?'), write the example as 'message -&gt; reason -&gt; category'. The model will then give its reason, which a reviewer can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Cheap trick worth knowing. Add 'Work through the steps before giving the final answer' to the constraints when the task has more than one step. Not needed for simple classification; useful for summaries that must reconcile several sources.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Day 5 and Day 6: a model that writes 'Urgent because the email mentions a stopped lift' is auditable; one that writes only 'Urgent' is not. Put the reason line in the output format when a human will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this and tell me what to do' is two tasks. Make it two prompts, or one prompt with two clearly labelled output sections. On Day 3 the split becomes two AI nodes in a 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three-column sheet in the demo and do two rows. The discipline is re-running all ten, not just the ones that failed; fixes often break something that worked.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Useful for drafting tasks (replies, reports). Ask the model to review its own draft against the constraints before output. Costs more tokens, catches obvious misses. It does not replace your ten-row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research agents keep a memory of failures to improve the next run. Your ten-row sheet and the notes you add to a template are the same loop, run by you.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throw the sheet away once the prompt works. Make the case for keeping it: models get updated by vendors without notice; the sheet is how you find out.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major assistant lets you save standing instructions together with uploaded files so you do not repeat the context each time. Ask who uses which product at work; most rooms are split between Microsoft and Google, with ChatGPT on personal accounts.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of two mechanisms. When a document or a long conversation would not fit, the platform summarises it. Good for gist, bad for exact clauses, which is why the next mechanism exists.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to the metaphor of a very good index at the back of a book. No maths. This is what happens when you click 'upload' in a Project. Day 4 calls this RAG and builds it in n8n.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explains both the power and the failure mode: if the right passage is not retrieved, the model answers from general knowledge and may invent. Hence the instruction 'quote the sentence you relied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four parts from Session 1: three of four present. Participants build exactly this in the lab today and extend it on Day 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one sentence. Shows where document memory leads: agents that remember, reflect and plan over long periods. Day 5 touches on this with always-on personal agents.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Non-negotiable. State clearly that today's lab uses public documents only. If anyone has uploaded a real internal file during the session, ask them to delete the Project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first idea of the day: next-word prediction. Hallucination is not a bug to be patched away; it is what the mechanism does when starved of facts. The remedy is to feed it facts and give it an exit.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go on the wall. They also map onto the course: grounding is Day 4 (RAG), the exit is Day 5 (routing to a human), checking the checkable is Day 6 (evaluation).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can use this table during the lab when the classifier misbehaves. Every fix is a missing prompt part or a missing example; none of them is 'be more accurate'.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thought before the lab. Participants worry about picking the wrong product. The skills in this session are product-independent: a template written in five parts pastes into ChatGPT, Claude, Copilot, Gemini or an n8n node unchanged.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three-column sheet. Most participants will write two or three templates in the room and finish the rest at home. Make sure everyone reaches step 4 at least once so the test-set habit is 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test is the most memorable five minutes of the day. Ask two or three participants to report what their assistant did with the trap questions.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constraints line is pre-filled with the unsure clause. Participants should never remove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3 uses exactly this text. Note the three habits inside it: grounded (only from the documents), an exit (not covered), and checkable (quote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are reused on Day 3 inside n8n AI nodes, so quality here saves time later.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Without an explicit output format the model chooses its own shape each run, which breaks anything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Without an explicit output format the model chooses its own shape each run, which breaks anything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Examples inside the prompt show the model the pattern to copy, which is more reliable than describing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Examples inside the prompt show the model the pattern to copy, which is more reliable than describing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Prompts improve through specific constraints and examples, tested against the whole set so you do not break what already worked.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Prompts improve through specific constraints and examples, tested against the whole set so you do not break what already worked.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It has three of the four agent parts. Without tools it can answer but cannot act, which is ideal while you learn what it gets wrong.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It has three of the four agent parts. Without tools it can answer but cannot act, which is ideal while you learn what it gets wrong.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Giving the model an explicit way to say 'not found' turns an invented answer into a flag a person can act 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Giving the model an explicit way to say 'not found' turns an invented answer into a flag a person can act 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takeaways. Then set up the next session (Day 2, workflow mapping): bring the M1 task inventory and the M2 prompt library; next time we map the chosen task as a current-state process in Miro or draw.io.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big picture. Day 2 goes back to the process itself: before building anything, map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ties a recent piece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diagrams in this deck are from Maarten Grootendorst's 'A Visual Guide to LLM Agents', reused with credit as on the course website.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Prompting for Operators</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2</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Robina Mirbahar</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albanna-tutorials.com/ai-administrator/02_prompting_for_operators.html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Use the five parts of a working prompt: role, context, task, constraints, output format</a:t>
            </a:r>
          </a:p>
          <a:p>
            <a:pPr>
              <a:spcAft>
                <a:spcPts val="1200"/>
              </a:spcAft>
            </a:pPr>
            <a:r>
              <a:rPr sz="2200">
                <a:solidFill>
                  <a:srgbClr val="111111"/>
                </a:solidFill>
                <a:latin typeface="Calibri"/>
              </a:rPr>
              <a:t>•  Ask for structured outputs that can be copied straight into a spreadsheet or a workflow</a:t>
            </a:r>
          </a:p>
          <a:p>
            <a:pPr>
              <a:spcAft>
                <a:spcPts val="1200"/>
              </a:spcAft>
            </a:pPr>
            <a:r>
              <a:rPr sz="2200">
                <a:solidFill>
                  <a:srgbClr val="111111"/>
                </a:solidFill>
                <a:latin typeface="Calibri"/>
              </a:rPr>
              <a:t>•  Turn a good prompt into a reusable template with placeholders, and improve it with examples</a:t>
            </a:r>
          </a:p>
          <a:p>
            <a:pPr>
              <a:spcAft>
                <a:spcPts val="1200"/>
              </a:spcAft>
            </a:pPr>
            <a:r>
              <a:rPr sz="2200">
                <a:solidFill>
                  <a:srgbClr val="111111"/>
                </a:solidFill>
                <a:latin typeface="Calibri"/>
              </a:rPr>
              <a:t>•  Set up a project or custom assistant with uploaded documents, and test where it is reliable</a:t>
            </a:r>
          </a:p>
          <a:p>
            <a:pPr>
              <a:spcAft>
                <a:spcPts val="1200"/>
              </a:spcAft>
            </a:pPr>
            <a:r>
              <a:rPr sz="2200">
                <a:solidFill>
                  <a:srgbClr val="111111"/>
                </a:solidFill>
                <a:latin typeface="Calibri"/>
              </a:rPr>
              <a:t>•  Recognise hallucination and over-confidence, and know the three habits that catch them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518160">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518160">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Recap and the standard</a:t>
                      </a:r>
                    </a:p>
                  </a:txBody>
                  <a:tcPr marT="45720" marB="45720">
                    <a:solidFill>
                      <a:srgbClr val="FFFFFF"/>
                    </a:solidFill>
                  </a:tcPr>
                </a:tc>
                <a:tc>
                  <a:txBody>
                    <a:bodyPr/>
                    <a:lstStyle/>
                    <a:p>
                      <a:r>
                        <a:rPr sz="1100" b="0">
                          <a:solidFill>
                            <a:srgbClr val="111111"/>
                          </a:solidFill>
                          <a:latin typeface="Calibri"/>
                        </a:rPr>
                        <a:t>A prompt is a work instruction; repeatability</a:t>
                      </a:r>
                    </a:p>
                  </a:txBody>
                  <a:tcPr marT="45720" marB="45720">
                    <a:solidFill>
                      <a:srgbClr val="FFFFFF"/>
                    </a:solidFill>
                  </a:tcPr>
                </a:tc>
              </a:tr>
              <a:tr h="518160">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The five parts</a:t>
                      </a:r>
                    </a:p>
                  </a:txBody>
                  <a:tcPr marT="45720" marB="45720">
                    <a:solidFill>
                      <a:srgbClr val="FFFFFF"/>
                    </a:solidFill>
                  </a:tcPr>
                </a:tc>
                <a:tc>
                  <a:txBody>
                    <a:bodyPr/>
                    <a:lstStyle/>
                    <a:p>
                      <a:r>
                        <a:rPr sz="1100" b="0">
                          <a:solidFill>
                            <a:srgbClr val="111111"/>
                          </a:solidFill>
                          <a:latin typeface="Calibri"/>
                        </a:rPr>
                        <a:t>Before and after, the parts table, the most valuable sentence; demo burst 1</a:t>
                      </a:r>
                    </a:p>
                  </a:txBody>
                  <a:tcPr marT="45720" marB="45720">
                    <a:solidFill>
                      <a:srgbClr val="FFFFFF"/>
                    </a:solidFill>
                  </a:tcPr>
                </a:tc>
              </a:tr>
              <a:tr h="518160">
                <a:tc>
                  <a:txBody>
                    <a:bodyPr/>
                    <a:lstStyle/>
                    <a:p>
                      <a:r>
                        <a:rPr sz="1100" b="0">
                          <a:solidFill>
                            <a:srgbClr val="111111"/>
                          </a:solidFill>
                          <a:latin typeface="Calibri"/>
                        </a:rPr>
                        <a:t>35 to 55</a:t>
                      </a:r>
                    </a:p>
                  </a:txBody>
                  <a:tcPr marT="45720" marB="45720">
                    <a:solidFill>
                      <a:srgbClr val="FFFFFF"/>
                    </a:solidFill>
                  </a:tcPr>
                </a:tc>
                <a:tc>
                  <a:txBody>
                    <a:bodyPr/>
                    <a:lstStyle/>
                    <a:p>
                      <a:r>
                        <a:rPr sz="1100" b="0">
                          <a:solidFill>
                            <a:srgbClr val="111111"/>
                          </a:solidFill>
                          <a:latin typeface="Calibri"/>
                        </a:rPr>
                        <a:t>Structured outputs and examples</a:t>
                      </a:r>
                    </a:p>
                  </a:txBody>
                  <a:tcPr marT="45720" marB="45720">
                    <a:solidFill>
                      <a:srgbClr val="FFFFFF"/>
                    </a:solidFill>
                  </a:tcPr>
                </a:tc>
                <a:tc>
                  <a:txBody>
                    <a:bodyPr/>
                    <a:lstStyle/>
                    <a:p>
                      <a:r>
                        <a:rPr sz="1100" b="0">
                          <a:solidFill>
                            <a:srgbClr val="111111"/>
                          </a:solidFill>
                          <a:latin typeface="Calibri"/>
                        </a:rPr>
                        <a:t>Fields not prose, few-shot, iterating with a test set; demo burst 2</a:t>
                      </a:r>
                    </a:p>
                  </a:txBody>
                  <a:tcPr marT="45720" marB="45720">
                    <a:solidFill>
                      <a:srgbClr val="FFFFFF"/>
                    </a:solidFill>
                  </a:tcPr>
                </a:tc>
              </a:tr>
              <a:tr h="518160">
                <a:tc>
                  <a:txBody>
                    <a:bodyPr/>
                    <a:lstStyle/>
                    <a:p>
                      <a:r>
                        <a:rPr sz="1100" b="0">
                          <a:solidFill>
                            <a:srgbClr val="111111"/>
                          </a:solidFill>
                          <a:latin typeface="Calibri"/>
                        </a:rPr>
                        <a:t>55 to 65</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518160">
                <a:tc>
                  <a:txBody>
                    <a:bodyPr/>
                    <a:lstStyle/>
                    <a:p>
                      <a:r>
                        <a:rPr sz="1100" b="0">
                          <a:solidFill>
                            <a:srgbClr val="111111"/>
                          </a:solidFill>
                          <a:latin typeface="Calibri"/>
                        </a:rPr>
                        <a:t>65 to 85</a:t>
                      </a:r>
                    </a:p>
                  </a:txBody>
                  <a:tcPr marT="45720" marB="45720">
                    <a:solidFill>
                      <a:srgbClr val="FFFFFF"/>
                    </a:solidFill>
                  </a:tcPr>
                </a:tc>
                <a:tc>
                  <a:txBody>
                    <a:bodyPr/>
                    <a:lstStyle/>
                    <a:p>
                      <a:r>
                        <a:rPr sz="1100" b="0">
                          <a:solidFill>
                            <a:srgbClr val="111111"/>
                          </a:solidFill>
                          <a:latin typeface="Calibri"/>
                        </a:rPr>
                        <a:t>Assistants that know your documents</a:t>
                      </a:r>
                    </a:p>
                  </a:txBody>
                  <a:tcPr marT="45720" marB="45720">
                    <a:solidFill>
                      <a:srgbClr val="FFFFFF"/>
                    </a:solidFill>
                  </a:tcPr>
                </a:tc>
                <a:tc>
                  <a:txBody>
                    <a:bodyPr/>
                    <a:lstStyle/>
                    <a:p>
                      <a:r>
                        <a:rPr sz="1100" b="0">
                          <a:solidFill>
                            <a:srgbClr val="111111"/>
                          </a:solidFill>
                          <a:latin typeface="Calibri"/>
                        </a:rPr>
                        <a:t>Projects, custom GPTs, Gems, Copilot agents; how retrieval works; data rules; demo burst 3</a:t>
                      </a:r>
                    </a:p>
                  </a:txBody>
                  <a:tcPr marT="45720" marB="45720">
                    <a:solidFill>
                      <a:srgbClr val="FFFFFF"/>
                    </a:solidFill>
                  </a:tcPr>
                </a:tc>
              </a:tr>
              <a:tr h="518160">
                <a:tc>
                  <a:txBody>
                    <a:bodyPr/>
                    <a:lstStyle/>
                    <a:p>
                      <a:r>
                        <a:rPr sz="1100" b="0">
                          <a:solidFill>
                            <a:srgbClr val="111111"/>
                          </a:solidFill>
                          <a:latin typeface="Calibri"/>
                        </a:rPr>
                        <a:t>85 to 95</a:t>
                      </a:r>
                    </a:p>
                  </a:txBody>
                  <a:tcPr marT="45720" marB="45720">
                    <a:solidFill>
                      <a:srgbClr val="FFFFFF"/>
                    </a:solidFill>
                  </a:tcPr>
                </a:tc>
                <a:tc>
                  <a:txBody>
                    <a:bodyPr/>
                    <a:lstStyle/>
                    <a:p>
                      <a:r>
                        <a:rPr sz="1100" b="0">
                          <a:solidFill>
                            <a:srgbClr val="111111"/>
                          </a:solidFill>
                          <a:latin typeface="Calibri"/>
                        </a:rPr>
                        <a:t>Where prompts fail</a:t>
                      </a:r>
                    </a:p>
                  </a:txBody>
                  <a:tcPr marT="45720" marB="45720">
                    <a:solidFill>
                      <a:srgbClr val="FFFFFF"/>
                    </a:solidFill>
                  </a:tcPr>
                </a:tc>
                <a:tc>
                  <a:txBody>
                    <a:bodyPr/>
                    <a:lstStyle/>
                    <a:p>
                      <a:r>
                        <a:rPr sz="1100" b="0">
                          <a:solidFill>
                            <a:srgbClr val="111111"/>
                          </a:solidFill>
                          <a:latin typeface="Calibri"/>
                        </a:rPr>
                        <a:t>Hallucination, over-confidence, three habits, symptom table</a:t>
                      </a:r>
                    </a:p>
                  </a:txBody>
                  <a:tcPr marT="45720" marB="45720">
                    <a:solidFill>
                      <a:srgbClr val="FFFFFF"/>
                    </a:solidFill>
                  </a:tcPr>
                </a:tc>
              </a:tr>
              <a:tr h="518160">
                <a:tc>
                  <a:txBody>
                    <a:bodyPr/>
                    <a:lstStyle/>
                    <a:p>
                      <a:r>
                        <a:rPr sz="1100" b="0">
                          <a:solidFill>
                            <a:srgbClr val="111111"/>
                          </a:solidFill>
                          <a:latin typeface="Calibri"/>
                        </a:rPr>
                        <a:t>95 to 115</a:t>
                      </a:r>
                    </a:p>
                  </a:txBody>
                  <a:tcPr marT="45720" marB="45720">
                    <a:solidFill>
                      <a:srgbClr val="FFFFFF"/>
                    </a:solidFill>
                  </a:tcPr>
                </a:tc>
                <a:tc>
                  <a:txBody>
                    <a:bodyPr/>
                    <a:lstStyle/>
                    <a:p>
                      <a:r>
                        <a:rPr sz="1100" b="0">
                          <a:solidFill>
                            <a:srgbClr val="111111"/>
                          </a:solidFill>
                          <a:latin typeface="Calibri"/>
                        </a:rPr>
                        <a:t>Lab</a:t>
                      </a:r>
                    </a:p>
                  </a:txBody>
                  <a:tcPr marT="45720" marB="45720">
                    <a:solidFill>
                      <a:srgbClr val="FFFFFF"/>
                    </a:solidFill>
                  </a:tcPr>
                </a:tc>
                <a:tc>
                  <a:txBody>
                    <a:bodyPr/>
                    <a:lstStyle/>
                    <a:p>
                      <a:r>
                        <a:rPr sz="1100" b="0">
                          <a:solidFill>
                            <a:srgbClr val="111111"/>
                          </a:solidFill>
                          <a:latin typeface="Calibri"/>
                        </a:rPr>
                        <a:t>Prompt library, classifier test set, department assistant, trap test</a:t>
                      </a:r>
                    </a:p>
                  </a:txBody>
                  <a:tcPr marT="45720" marB="45720">
                    <a:solidFill>
                      <a:srgbClr val="FFFFFF"/>
                    </a:solidFill>
                  </a:tcPr>
                </a:tc>
              </a:tr>
              <a:tr h="518160">
                <a:tc>
                  <a:txBody>
                    <a:bodyPr/>
                    <a:lstStyle/>
                    <a:p>
                      <a:r>
                        <a:rPr sz="1100" b="0">
                          <a:solidFill>
                            <a:srgbClr val="111111"/>
                          </a:solidFill>
                          <a:latin typeface="Calibri"/>
                        </a:rPr>
                        <a:t>115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takeaways, what to bring to Day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2</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A prompt is a work instruction</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Vague instruction, vague output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How you brief a new temp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You do not say 'deal with the inbox'</a:t>
            </a:r>
          </a:p>
          <a:p>
            <a:pPr>
              <a:spcAft>
                <a:spcPts val="1200"/>
              </a:spcAft>
            </a:pPr>
            <a:r>
              <a:rPr sz="2200">
                <a:solidFill>
                  <a:srgbClr val="111111"/>
                </a:solidFill>
                <a:latin typeface="Calibri"/>
              </a:rPr>
              <a:t>•  You say who they are standing in for, what the team does, what exactly to do</a:t>
            </a:r>
          </a:p>
          <a:p>
            <a:pPr>
              <a:spcAft>
                <a:spcPts val="1200"/>
              </a:spcAft>
            </a:pPr>
            <a:r>
              <a:rPr sz="2200">
                <a:solidFill>
                  <a:srgbClr val="111111"/>
                </a:solidFill>
                <a:latin typeface="Calibri"/>
              </a:rPr>
              <a:t>•  What they must not do, and what the finished result should look like</a:t>
            </a:r>
          </a:p>
          <a:p>
            <a:pPr>
              <a:spcAft>
                <a:spcPts val="1200"/>
              </a:spcAft>
            </a:pPr>
            <a:r>
              <a:rPr sz="2200">
                <a:solidFill>
                  <a:srgbClr val="111111"/>
                </a:solidFill>
                <a:latin typeface="Calibri"/>
              </a:rPr>
              <a:t>•  A prompt is the same instruction, written for a model</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standard: repeatability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chat you enjoyed is not the same as a prompt you can put inside an automation</a:t>
            </a:r>
          </a:p>
          <a:p>
            <a:pPr>
              <a:spcAft>
                <a:spcPts val="1200"/>
              </a:spcAft>
            </a:pPr>
            <a:r>
              <a:rPr sz="2200">
                <a:solidFill>
                  <a:srgbClr val="111111"/>
                </a:solidFill>
                <a:latin typeface="Calibri"/>
              </a:rPr>
              <a:t>•  On Day 3 the same prompt runs hundreds of times a day without you watching</a:t>
            </a:r>
          </a:p>
          <a:p>
            <a:pPr>
              <a:spcAft>
                <a:spcPts val="1200"/>
              </a:spcAft>
            </a:pPr>
            <a:r>
              <a:rPr sz="2200">
                <a:solidFill>
                  <a:srgbClr val="111111"/>
                </a:solidFill>
                <a:latin typeface="Calibri"/>
              </a:rPr>
              <a:t>•  It must produce the same shape of answer for every input</a:t>
            </a:r>
          </a:p>
          <a:p>
            <a:pPr>
              <a:spcAft>
                <a:spcPts val="1200"/>
              </a:spcAft>
            </a:pPr>
            <a:r>
              <a:rPr sz="2200">
                <a:solidFill>
                  <a:srgbClr val="111111"/>
                </a:solidFill>
                <a:latin typeface="Calibri"/>
              </a:rPr>
              <a:t>•  That is the standard you are learning to write to now</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Why the model needs everything spelled out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memory.png"/>
          <p:cNvPicPr>
            <a:picLocks noChangeAspect="1"/>
          </p:cNvPicPr>
          <p:nvPr/>
        </p:nvPicPr>
        <p:blipFill>
          <a:blip r:embed="rId2"/>
          <a:stretch>
            <a:fillRect/>
          </a:stretch>
        </p:blipFill>
        <p:spPr>
          <a:xfrm>
            <a:off x="2029885" y="1280160"/>
            <a:ext cx="81319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knows only what is in its context window right now: your prompt, the pasted text, the uploaded files.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five parts of a working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Role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Who the model is standing in for.</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Context</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What it needs to know: facts and definitions it cannot guess.</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Task</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one thing to do. One verb, one deliverable.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Constraints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Limits, tone, what not to do, what to do when unsure.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Output format</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exact shape of the answer.</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The five parts, with a before and after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real request from an office coordinator</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Before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Summarise this email and tell me what to do.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After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facilities coordinator of a 200-person office.</a:t>
            </a:r>
          </a:p>
          <a:p>
            <a:pPr algn="l"/>
            <a:r>
              <a:rPr sz="1600" b="0" i="0">
                <a:solidFill>
                  <a:srgbClr val="111111"/>
                </a:solidFill>
                <a:latin typeface="Courier New"/>
              </a:rPr>
              <a:t>Context: We receive maintenance requests by email. Urgent means a safety risk or a stopped</a:t>
            </a:r>
          </a:p>
          <a:p>
            <a:pPr algn="l"/>
            <a:r>
              <a:rPr sz="1600" b="0" i="0">
                <a:solidFill>
                  <a:srgbClr val="111111"/>
                </a:solidFill>
                <a:latin typeface="Courier New"/>
              </a:rPr>
              <a:t>service (lift, water, power, access).</a:t>
            </a:r>
          </a:p>
          <a:p>
            <a:pPr algn="l"/>
            <a:r>
              <a:rPr sz="1600" b="0" i="0">
                <a:solidFill>
                  <a:srgbClr val="111111"/>
                </a:solidFill>
                <a:latin typeface="Courier New"/>
              </a:rPr>
              <a:t>Task: Read the email below and produce a triage note.</a:t>
            </a:r>
          </a:p>
          <a:p>
            <a:pPr algn="l"/>
            <a:r>
              <a:rPr sz="1600" b="0" i="0">
                <a:solidFill>
                  <a:srgbClr val="111111"/>
                </a:solidFill>
                <a:latin typeface="Courier New"/>
              </a:rPr>
              <a:t>Constraints: Do not invent details that are not in the email. If the urgency is unclear,</a:t>
            </a:r>
          </a:p>
          <a:p>
            <a:pPr algn="l"/>
            <a:r>
              <a:rPr sz="1600" b="0" i="0">
                <a:solidFill>
                  <a:srgbClr val="111111"/>
                </a:solidFill>
                <a:latin typeface="Courier New"/>
              </a:rPr>
              <a:t>say "unclear" rather than guessing. Maximum 80 words.</a:t>
            </a:r>
          </a:p>
          <a:p>
            <a:pPr algn="l"/>
            <a:r>
              <a:rPr sz="1600" b="0" i="0">
                <a:solidFill>
                  <a:srgbClr val="111111"/>
                </a:solidFill>
                <a:latin typeface="Courier New"/>
              </a:rPr>
              <a:t>Output format, exactly these labelled lines:</a:t>
            </a:r>
          </a:p>
          <a:p>
            <a:pPr algn="l"/>
            <a:r>
              <a:rPr sz="1600" b="0" i="0">
                <a:solidFill>
                  <a:srgbClr val="111111"/>
                </a:solidFill>
                <a:latin typeface="Courier New"/>
              </a:rPr>
              <a:t>Requester:</a:t>
            </a:r>
          </a:p>
          <a:p>
            <a:pPr algn="l"/>
            <a:r>
              <a:rPr sz="1600" b="0" i="0">
                <a:solidFill>
                  <a:srgbClr val="111111"/>
                </a:solidFill>
                <a:latin typeface="Courier New"/>
              </a:rPr>
              <a:t>Location:</a:t>
            </a:r>
          </a:p>
          <a:p>
            <a:pPr algn="l"/>
            <a:r>
              <a:rPr sz="1600" b="0" i="0">
                <a:solidFill>
                  <a:srgbClr val="111111"/>
                </a:solidFill>
                <a:latin typeface="Courier New"/>
              </a:rPr>
              <a:t>Issue (one sentence):</a:t>
            </a:r>
          </a:p>
          <a:p>
            <a:pPr algn="l"/>
            <a:r>
              <a:rPr sz="1600" b="0" i="0">
                <a:solidFill>
                  <a:srgbClr val="111111"/>
                </a:solidFill>
                <a:latin typeface="Courier New"/>
              </a:rPr>
              <a:t>Urgency (urgent / normal / unclear):</a:t>
            </a:r>
          </a:p>
          <a:p>
            <a:pPr algn="l"/>
            <a:r>
              <a:rPr sz="1600" b="0" i="0">
                <a:solidFill>
                  <a:srgbClr val="111111"/>
                </a:solidFill>
                <a:latin typeface="Courier New"/>
              </a:rPr>
              <a:t>Suggested next action:</a:t>
            </a:r>
          </a:p>
          <a:p>
            <a:pPr algn="l"/>
            <a:r>
              <a:rPr sz="1600" b="0" i="0">
                <a:solidFill>
                  <a:srgbClr val="111111"/>
                </a:solidFill>
                <a:latin typeface="Courier New"/>
              </a:rPr>
              <a:t/>
            </a:r>
          </a:p>
          <a:p>
            <a:pPr algn="l"/>
            <a:r>
              <a:rPr sz="1600" b="0" i="0">
                <a:solidFill>
                  <a:srgbClr val="111111"/>
                </a:solidFill>
                <a:latin typeface="Courier New"/>
              </a:rPr>
              <a:t>Email: [paste email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each part does, and what goes wrong without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Part</a:t>
                      </a:r>
                    </a:p>
                  </a:txBody>
                  <a:tcPr>
                    <a:solidFill>
                      <a:srgbClr val="F2F2F2"/>
                    </a:solidFill>
                  </a:tcPr>
                </a:tc>
                <a:tc>
                  <a:txBody>
                    <a:bodyPr/>
                    <a:lstStyle/>
                    <a:p>
                      <a:r>
                        <a:rPr b="1" sz="1500">
                          <a:solidFill>
                            <a:srgbClr val="111111"/>
                          </a:solidFill>
                          <a:latin typeface="Calibri"/>
                        </a:rPr>
                        <a:t>What it does</a:t>
                      </a:r>
                    </a:p>
                  </a:txBody>
                  <a:tcPr>
                    <a:solidFill>
                      <a:srgbClr val="F2F2F2"/>
                    </a:solidFill>
                  </a:tcPr>
                </a:tc>
                <a:tc>
                  <a:txBody>
                    <a:bodyPr/>
                    <a:lstStyle/>
                    <a:p>
                      <a:r>
                        <a:rPr b="1" sz="1500">
                          <a:solidFill>
                            <a:srgbClr val="111111"/>
                          </a:solidFill>
                          <a:latin typeface="Calibri"/>
                        </a:rPr>
                        <a:t>What goes wrong without it</a:t>
                      </a:r>
                    </a:p>
                  </a:txBody>
                  <a:tcPr>
                    <a:solidFill>
                      <a:srgbClr val="F2F2F2"/>
                    </a:solidFill>
                  </a:tcPr>
                </a:tc>
              </a:tr>
              <a:tr h="777240">
                <a:tc>
                  <a:txBody>
                    <a:bodyPr/>
                    <a:lstStyle/>
                    <a:p>
                      <a:r>
                        <a:rPr sz="1500" b="0">
                          <a:solidFill>
                            <a:srgbClr val="111111"/>
                          </a:solidFill>
                          <a:latin typeface="Calibri"/>
                        </a:rPr>
                        <a:t>Role</a:t>
                      </a:r>
                    </a:p>
                  </a:txBody>
                  <a:tcPr marT="45720" marB="45720">
                    <a:solidFill>
                      <a:srgbClr val="FFFFFF"/>
                    </a:solidFill>
                  </a:tcPr>
                </a:tc>
                <a:tc>
                  <a:txBody>
                    <a:bodyPr/>
                    <a:lstStyle/>
                    <a:p>
                      <a:r>
                        <a:rPr sz="1500" b="0">
                          <a:solidFill>
                            <a:srgbClr val="111111"/>
                          </a:solidFill>
                          <a:latin typeface="Calibri"/>
                        </a:rPr>
                        <a:t>Sets vocabulary, tone and assumed knowledge</a:t>
                      </a:r>
                    </a:p>
                  </a:txBody>
                  <a:tcPr marT="45720" marB="45720">
                    <a:solidFill>
                      <a:srgbClr val="FFFFFF"/>
                    </a:solidFill>
                  </a:tcPr>
                </a:tc>
                <a:tc>
                  <a:txBody>
                    <a:bodyPr/>
                    <a:lstStyle/>
                    <a:p>
                      <a:r>
                        <a:rPr sz="1500" b="0">
                          <a:solidFill>
                            <a:srgbClr val="111111"/>
                          </a:solidFill>
                          <a:latin typeface="Calibri"/>
                        </a:rPr>
                        <a:t>Generic, over-long answers</a:t>
                      </a:r>
                    </a:p>
                  </a:txBody>
                  <a:tcPr marT="45720" marB="45720">
                    <a:solidFill>
                      <a:srgbClr val="FFFFFF"/>
                    </a:solidFill>
                  </a:tcPr>
                </a:tc>
              </a:tr>
              <a:tr h="777240">
                <a:tc>
                  <a:txBody>
                    <a:bodyPr/>
                    <a:lstStyle/>
                    <a:p>
                      <a:r>
                        <a:rPr sz="1500" b="0">
                          <a:solidFill>
                            <a:srgbClr val="111111"/>
                          </a:solidFill>
                          <a:latin typeface="Calibri"/>
                        </a:rPr>
                        <a:t>Context</a:t>
                      </a:r>
                    </a:p>
                  </a:txBody>
                  <a:tcPr marT="45720" marB="45720">
                    <a:solidFill>
                      <a:srgbClr val="FFFFFF"/>
                    </a:solidFill>
                  </a:tcPr>
                </a:tc>
                <a:tc>
                  <a:txBody>
                    <a:bodyPr/>
                    <a:lstStyle/>
                    <a:p>
                      <a:r>
                        <a:rPr sz="1500" b="0">
                          <a:solidFill>
                            <a:srgbClr val="111111"/>
                          </a:solidFill>
                          <a:latin typeface="Calibri"/>
                        </a:rPr>
                        <a:t>Gives the facts and definitions the model cannot know</a:t>
                      </a:r>
                    </a:p>
                  </a:txBody>
                  <a:tcPr marT="45720" marB="45720">
                    <a:solidFill>
                      <a:srgbClr val="FFFFFF"/>
                    </a:solidFill>
                  </a:tcPr>
                </a:tc>
                <a:tc>
                  <a:txBody>
                    <a:bodyPr/>
                    <a:lstStyle/>
                    <a:p>
                      <a:r>
                        <a:rPr sz="1500" b="0">
                          <a:solidFill>
                            <a:srgbClr val="111111"/>
                          </a:solidFill>
                          <a:latin typeface="Calibri"/>
                        </a:rPr>
                        <a:t>The model guesses your policies</a:t>
                      </a:r>
                    </a:p>
                  </a:txBody>
                  <a:tcPr marT="45720" marB="45720">
                    <a:solidFill>
                      <a:srgbClr val="FFFFFF"/>
                    </a:solidFill>
                  </a:tcPr>
                </a:tc>
              </a:tr>
              <a:tr h="777240">
                <a:tc>
                  <a:txBody>
                    <a:bodyPr/>
                    <a:lstStyle/>
                    <a:p>
                      <a:r>
                        <a:rPr sz="1500" b="0">
                          <a:solidFill>
                            <a:srgbClr val="111111"/>
                          </a:solidFill>
                          <a:latin typeface="Calibri"/>
                        </a:rPr>
                        <a:t>Task</a:t>
                      </a:r>
                    </a:p>
                  </a:txBody>
                  <a:tcPr marT="45720" marB="45720">
                    <a:solidFill>
                      <a:srgbClr val="FFFFFF"/>
                    </a:solidFill>
                  </a:tcPr>
                </a:tc>
                <a:tc>
                  <a:txBody>
                    <a:bodyPr/>
                    <a:lstStyle/>
                    <a:p>
                      <a:r>
                        <a:rPr sz="1500" b="0">
                          <a:solidFill>
                            <a:srgbClr val="111111"/>
                          </a:solidFill>
                          <a:latin typeface="Calibri"/>
                        </a:rPr>
                        <a:t>One verb, one deliverable</a:t>
                      </a:r>
                    </a:p>
                  </a:txBody>
                  <a:tcPr marT="45720" marB="45720">
                    <a:solidFill>
                      <a:srgbClr val="FFFFFF"/>
                    </a:solidFill>
                  </a:tcPr>
                </a:tc>
                <a:tc>
                  <a:txBody>
                    <a:bodyPr/>
                    <a:lstStyle/>
                    <a:p>
                      <a:r>
                        <a:rPr sz="1500" b="0">
                          <a:solidFill>
                            <a:srgbClr val="111111"/>
                          </a:solidFill>
                          <a:latin typeface="Calibri"/>
                        </a:rPr>
                        <a:t>The model does three things badly</a:t>
                      </a:r>
                    </a:p>
                  </a:txBody>
                  <a:tcPr marT="45720" marB="45720">
                    <a:solidFill>
                      <a:srgbClr val="FFFFFF"/>
                    </a:solidFill>
                  </a:tcPr>
                </a:tc>
              </a:tr>
              <a:tr h="777240">
                <a:tc>
                  <a:txBody>
                    <a:bodyPr/>
                    <a:lstStyle/>
                    <a:p>
                      <a:r>
                        <a:rPr sz="1500" b="0">
                          <a:solidFill>
                            <a:srgbClr val="111111"/>
                          </a:solidFill>
                          <a:latin typeface="Calibri"/>
                        </a:rPr>
                        <a:t>Constraints</a:t>
                      </a:r>
                    </a:p>
                  </a:txBody>
                  <a:tcPr marT="45720" marB="45720">
                    <a:solidFill>
                      <a:srgbClr val="FFFFFF"/>
                    </a:solidFill>
                  </a:tcPr>
                </a:tc>
                <a:tc>
                  <a:txBody>
                    <a:bodyPr/>
                    <a:lstStyle/>
                    <a:p>
                      <a:r>
                        <a:rPr sz="1500" b="0">
                          <a:solidFill>
                            <a:srgbClr val="111111"/>
                          </a:solidFill>
                          <a:latin typeface="Calibri"/>
                        </a:rPr>
                        <a:t>Length, tone, forbidden actions, what to do when unsure</a:t>
                      </a:r>
                    </a:p>
                  </a:txBody>
                  <a:tcPr marT="45720" marB="45720">
                    <a:solidFill>
                      <a:srgbClr val="FFFFFF"/>
                    </a:solidFill>
                  </a:tcPr>
                </a:tc>
                <a:tc>
                  <a:txBody>
                    <a:bodyPr/>
                    <a:lstStyle/>
                    <a:p>
                      <a:r>
                        <a:rPr sz="1500" b="0">
                          <a:solidFill>
                            <a:srgbClr val="111111"/>
                          </a:solidFill>
                          <a:latin typeface="Calibri"/>
                        </a:rPr>
                        <a:t>Invented details, wrong register</a:t>
                      </a:r>
                    </a:p>
                  </a:txBody>
                  <a:tcPr marT="45720" marB="45720">
                    <a:solidFill>
                      <a:srgbClr val="FFFFFF"/>
                    </a:solidFill>
                  </a:tcPr>
                </a:tc>
              </a:tr>
              <a:tr h="777240">
                <a:tc>
                  <a:txBody>
                    <a:bodyPr/>
                    <a:lstStyle/>
                    <a:p>
                      <a:r>
                        <a:rPr sz="1500" b="0">
                          <a:solidFill>
                            <a:srgbClr val="111111"/>
                          </a:solidFill>
                          <a:latin typeface="Calibri"/>
                        </a:rPr>
                        <a:t>Output format</a:t>
                      </a:r>
                    </a:p>
                  </a:txBody>
                  <a:tcPr marT="45720" marB="45720">
                    <a:solidFill>
                      <a:srgbClr val="FFFFFF"/>
                    </a:solidFill>
                  </a:tcPr>
                </a:tc>
                <a:tc>
                  <a:txBody>
                    <a:bodyPr/>
                    <a:lstStyle/>
                    <a:p>
                      <a:r>
                        <a:rPr sz="1500" b="0">
                          <a:solidFill>
                            <a:srgbClr val="111111"/>
                          </a:solidFill>
                          <a:latin typeface="Calibri"/>
                        </a:rPr>
                        <a:t>Makes the answer machine- and colleague-readable</a:t>
                      </a:r>
                    </a:p>
                  </a:txBody>
                  <a:tcPr marT="45720" marB="45720">
                    <a:solidFill>
                      <a:srgbClr val="FFFFFF"/>
                    </a:solidFill>
                  </a:tcPr>
                </a:tc>
                <a:tc>
                  <a:txBody>
                    <a:bodyPr/>
                    <a:lstStyle/>
                    <a:p>
                      <a:r>
                        <a:rPr sz="1500" b="0">
                          <a:solidFill>
                            <a:srgbClr val="111111"/>
                          </a:solidFill>
                          <a:latin typeface="Calibri"/>
                        </a:rPr>
                        <a:t>Different shape every run; nothing downstream can use it</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most valuable sentence in the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If the urgency is unclear, say "unclear" rather than guessing. It turns a confident wrong answer into a flag a person can act on. You will reuse it in every AI step you build.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 is powerful enough to build whole systems 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roles.png"/>
          <p:cNvPicPr>
            <a:picLocks noChangeAspect="1"/>
          </p:cNvPicPr>
          <p:nvPr/>
        </p:nvPicPr>
        <p:blipFill>
          <a:blip r:embed="rId2"/>
          <a:stretch>
            <a:fillRect/>
          </a:stretch>
        </p:blipFill>
        <p:spPr>
          <a:xfrm>
            <a:off x="548640" y="2297806"/>
            <a:ext cx="11094415" cy="212522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on role-playing agents (CAMEL): two models given clear roles solve tasks together that neither does alone.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Roles in collaboration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collaboration.png"/>
          <p:cNvPicPr>
            <a:picLocks noChangeAspect="1"/>
          </p:cNvPicPr>
          <p:nvPr/>
        </p:nvPicPr>
        <p:blipFill>
          <a:blip r:embed="rId2"/>
          <a:stretch>
            <a:fillRect/>
          </a:stretch>
        </p:blipFill>
        <p:spPr>
          <a:xfrm>
            <a:off x="2140785" y="1280160"/>
            <a:ext cx="79101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user-role agent and an assistant-role agent exchanging instructions and results. Day 5 uses this pattern with a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Structured outputs and few-shot examples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An automation cannot read prose. It reads fields.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for fields, and say the allowed values out loud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Labelled lines, a fixed set of categories, a markdown table, or a few key-value pairs</a:t>
            </a:r>
          </a:p>
          <a:p>
            <a:pPr>
              <a:spcAft>
                <a:spcPts val="1200"/>
              </a:spcAft>
            </a:pPr>
            <a:r>
              <a:rPr sz="2200">
                <a:solidFill>
                  <a:srgbClr val="111111"/>
                </a:solidFill>
                <a:latin typeface="Calibri"/>
              </a:rPr>
              <a:t>•  'Category must be one of: billing, technical, sales, other'</a:t>
            </a:r>
          </a:p>
          <a:p>
            <a:pPr>
              <a:spcAft>
                <a:spcPts val="1200"/>
              </a:spcAft>
            </a:pPr>
            <a:r>
              <a:rPr sz="2200">
                <a:solidFill>
                  <a:srgbClr val="111111"/>
                </a:solidFill>
                <a:latin typeface="Calibri"/>
              </a:rPr>
              <a:t>•  Allowed values stop the model inventing a fifth category on Tuesday</a:t>
            </a:r>
          </a:p>
          <a:p>
            <a:pPr>
              <a:spcAft>
                <a:spcPts val="1200"/>
              </a:spcAft>
            </a:pPr>
            <a:r>
              <a:rPr sz="2200">
                <a:solidFill>
                  <a:srgbClr val="111111"/>
                </a:solidFill>
                <a:latin typeface="Calibri"/>
              </a:rPr>
              <a:t>•  Fields are what a spreadsheet column or an n8n node can consume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Few-shot examples: show the pattern instead of describing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Classify each message as billing, technical, sales or other.</a:t>
            </a:r>
          </a:p>
          <a:p>
            <a:pPr algn="l"/>
            <a:r>
              <a:rPr sz="1600" b="0" i="0">
                <a:solidFill>
                  <a:srgbClr val="111111"/>
                </a:solidFill>
                <a:latin typeface="Courier New"/>
              </a:rPr>
              <a:t>Example 1: "My invoice shows the old price" -&gt; billing</a:t>
            </a:r>
          </a:p>
          <a:p>
            <a:pPr algn="l"/>
            <a:r>
              <a:rPr sz="1600" b="0" i="0">
                <a:solidFill>
                  <a:srgbClr val="111111"/>
                </a:solidFill>
                <a:latin typeface="Courier New"/>
              </a:rPr>
              <a:t>Example 2: "The portal logs me out every minute" -&gt; technical</a:t>
            </a:r>
          </a:p>
          <a:p>
            <a:pPr algn="l"/>
            <a:r>
              <a:rPr sz="1600" b="0" i="0">
                <a:solidFill>
                  <a:srgbClr val="111111"/>
                </a:solidFill>
                <a:latin typeface="Courier New"/>
              </a:rPr>
              <a:t>Example 3: "Do you offer a plan for schools?" -&gt; sales</a:t>
            </a:r>
          </a:p>
          <a:p>
            <a:pPr algn="l"/>
            <a:r>
              <a:rPr sz="1600" b="0" i="0">
                <a:solidFill>
                  <a:srgbClr val="111111"/>
                </a:solidFill>
                <a:latin typeface="Courier New"/>
              </a:rPr>
              <a:t>Example 4: "Thanks for the quick help yesterday" -&gt; other</a:t>
            </a:r>
          </a:p>
          <a:p>
            <a:pPr algn="l"/>
            <a:r>
              <a:rPr sz="1600" b="0" i="0">
                <a:solidFill>
                  <a:srgbClr val="111111"/>
                </a:solidFill>
                <a:latin typeface="Courier New"/>
              </a:rPr>
              <a:t>Now classify: "[message]"</a:t>
            </a:r>
          </a:p>
          <a:p>
            <a:pPr algn="l"/>
            <a:r>
              <a:rPr sz="1600" b="0" i="0">
                <a:solidFill>
                  <a:srgbClr val="111111"/>
                </a:solidFill>
                <a:latin typeface="Courier New"/>
              </a:rPr>
              <a:t>Answer with the category only.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Examples with reasoning: chain-of-thought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of-thought-prompting.png"/>
          <p:cNvPicPr>
            <a:picLocks noChangeAspect="1"/>
          </p:cNvPicPr>
          <p:nvPr/>
        </p:nvPicPr>
        <p:blipFill>
          <a:blip r:embed="rId2"/>
          <a:stretch>
            <a:fillRect/>
          </a:stretch>
        </p:blipFill>
        <p:spPr>
          <a:xfrm>
            <a:off x="1980551" y="1280160"/>
            <a:ext cx="82305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When the examples show the reasoning as well as the answer, the model reasons before answering too.</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one-line version: 'think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ero-shot-chain-of-thought.png"/>
          <p:cNvPicPr>
            <a:picLocks noChangeAspect="1"/>
          </p:cNvPicPr>
          <p:nvPr/>
        </p:nvPicPr>
        <p:blipFill>
          <a:blip r:embed="rId2"/>
          <a:stretch>
            <a:fillRect/>
          </a:stretch>
        </p:blipFill>
        <p:spPr>
          <a:xfrm>
            <a:off x="548640" y="2419376"/>
            <a:ext cx="11094415" cy="188208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single constraint asking the model to reason first improves accuracy on multi-step tasks, with no examples.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Ask for the reasoning, then the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soning-process.png"/>
          <p:cNvPicPr>
            <a:picLocks noChangeAspect="1"/>
          </p:cNvPicPr>
          <p:nvPr/>
        </p:nvPicPr>
        <p:blipFill>
          <a:blip r:embed="rId2"/>
          <a:stretch>
            <a:fillRect/>
          </a:stretch>
        </p:blipFill>
        <p:spPr>
          <a:xfrm>
            <a:off x="2821406" y="1280160"/>
            <a:ext cx="654888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Reasoning first, conclusion last. The reasoning is also your audit trail when something goes wrong.</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One verb, one deliverable: break big tasks into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lanning-process.png"/>
          <p:cNvPicPr>
            <a:picLocks noChangeAspect="1"/>
          </p:cNvPicPr>
          <p:nvPr/>
        </p:nvPicPr>
        <p:blipFill>
          <a:blip r:embed="rId2"/>
          <a:stretch>
            <a:fillRect/>
          </a:stretch>
        </p:blipFill>
        <p:spPr>
          <a:xfrm>
            <a:off x="548640" y="1306886"/>
            <a:ext cx="11094415" cy="410706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large request is split into sub-tasks, each with a clear output. Do that split yourself when you design the prompt.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Iterating on a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Collect ten real inputs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Including two awkward ones.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Run and mark</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Run the prompt on all ten; mark each answer right or wrong in a sheet.</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Fix specifically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Add a constraint or an example for the wrong ones. Never fix by adding 'be more accurate'.</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Re-run all ten</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Stop when you are at nine or ten out of ten twice in a row.</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can refine their own output (Self-Refine)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f-refine-process.png"/>
          <p:cNvPicPr>
            <a:picLocks noChangeAspect="1"/>
          </p:cNvPicPr>
          <p:nvPr/>
        </p:nvPicPr>
        <p:blipFill>
          <a:blip r:embed="rId2"/>
          <a:stretch>
            <a:fillRect/>
          </a:stretch>
        </p:blipFill>
        <p:spPr>
          <a:xfrm>
            <a:off x="772722" y="1280160"/>
            <a:ext cx="10646251"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Draft, critique, revise. You can ask for this inside one prompt: 'Draft, then check against the constraints, then give the final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Learning from mistakes (Reflexion)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lexion-process.png"/>
          <p:cNvPicPr>
            <a:picLocks noChangeAspect="1"/>
          </p:cNvPicPr>
          <p:nvPr/>
        </p:nvPicPr>
        <p:blipFill>
          <a:blip r:embed="rId2"/>
          <a:stretch>
            <a:fillRect/>
          </a:stretch>
        </p:blipFill>
        <p:spPr>
          <a:xfrm>
            <a:off x="1935327" y="1280160"/>
            <a:ext cx="83210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An agent that records what went wrong and feeds it into the next attempt. Your test set is the human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That ten-row sheet is your first test set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Keep it. On Day 6 (Module 12) you will run it again every time you change the prompt or the model, and it will tell you immediately whether quality dropped.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Assistants that know your documents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Projects, custom GPTs, Gems, Copilot agents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names differ; the idea is the same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1996994"/>
                <a:gridCol w="2884547"/>
                <a:gridCol w="3106436"/>
                <a:gridCol w="3106436"/>
              </a:tblGrid>
              <a:tr h="932688">
                <a:tc>
                  <a:txBody>
                    <a:bodyPr/>
                    <a:lstStyle/>
                    <a:p>
                      <a:r>
                        <a:rPr b="1" sz="1500">
                          <a:solidFill>
                            <a:srgbClr val="111111"/>
                          </a:solidFill>
                          <a:latin typeface="Calibri"/>
                        </a:rPr>
                        <a:t>Product</a:t>
                      </a:r>
                    </a:p>
                  </a:txBody>
                  <a:tcPr>
                    <a:solidFill>
                      <a:srgbClr val="F2F2F2"/>
                    </a:solidFill>
                  </a:tcPr>
                </a:tc>
                <a:tc>
                  <a:txBody>
                    <a:bodyPr/>
                    <a:lstStyle/>
                    <a:p>
                      <a:r>
                        <a:rPr b="1" sz="1500">
                          <a:solidFill>
                            <a:srgbClr val="111111"/>
                          </a:solidFill>
                          <a:latin typeface="Calibri"/>
                        </a:rPr>
                        <a:t>Feature</a:t>
                      </a:r>
                    </a:p>
                  </a:txBody>
                  <a:tcPr>
                    <a:solidFill>
                      <a:srgbClr val="F2F2F2"/>
                    </a:solidFill>
                  </a:tcPr>
                </a:tc>
                <a:tc>
                  <a:txBody>
                    <a:bodyPr/>
                    <a:lstStyle/>
                    <a:p>
                      <a:r>
                        <a:rPr b="1" sz="1500">
                          <a:solidFill>
                            <a:srgbClr val="111111"/>
                          </a:solidFill>
                          <a:latin typeface="Calibri"/>
                        </a:rPr>
                        <a:t>What you can upload</a:t>
                      </a:r>
                    </a:p>
                  </a:txBody>
                  <a:tcPr>
                    <a:solidFill>
                      <a:srgbClr val="F2F2F2"/>
                    </a:solidFill>
                  </a:tcPr>
                </a:tc>
                <a:tc>
                  <a:txBody>
                    <a:bodyPr/>
                    <a:lstStyle/>
                    <a:p>
                      <a:r>
                        <a:rPr b="1" sz="1500">
                          <a:solidFill>
                            <a:srgbClr val="111111"/>
                          </a:solidFill>
                          <a:latin typeface="Calibri"/>
                        </a:rPr>
                        <a:t>Sharing</a:t>
                      </a:r>
                    </a:p>
                  </a:txBody>
                  <a:tcPr>
                    <a:solidFill>
                      <a:srgbClr val="F2F2F2"/>
                    </a:solidFill>
                  </a:tcPr>
                </a:tc>
              </a:tr>
              <a:tr h="932688">
                <a:tc>
                  <a:txBody>
                    <a:bodyPr/>
                    <a:lstStyle/>
                    <a:p>
                      <a:r>
                        <a:rPr sz="1500" b="0">
                          <a:solidFill>
                            <a:srgbClr val="111111"/>
                          </a:solidFill>
                          <a:latin typeface="Calibri"/>
                        </a:rPr>
                        <a:t>ChatGPT</a:t>
                      </a:r>
                    </a:p>
                  </a:txBody>
                  <a:tcPr marT="45720" marB="45720">
                    <a:solidFill>
                      <a:srgbClr val="FFFFFF"/>
                    </a:solidFill>
                  </a:tcPr>
                </a:tc>
                <a:tc>
                  <a:txBody>
                    <a:bodyPr/>
                    <a:lstStyle/>
                    <a:p>
                      <a:r>
                        <a:rPr sz="1500" b="0">
                          <a:solidFill>
                            <a:srgbClr val="111111"/>
                          </a:solidFill>
                          <a:latin typeface="Calibri"/>
                        </a:rPr>
                        <a:t>Projects, custom GPTs</a:t>
                      </a:r>
                    </a:p>
                  </a:txBody>
                  <a:tcPr marT="45720" marB="45720">
                    <a:solidFill>
                      <a:srgbClr val="FFFFFF"/>
                    </a:solidFill>
                  </a:tcPr>
                </a:tc>
                <a:tc>
                  <a:txBody>
                    <a:bodyPr/>
                    <a:lstStyle/>
                    <a:p>
                      <a:r>
                        <a:rPr sz="1500" b="0">
                          <a:solidFill>
                            <a:srgbClr val="111111"/>
                          </a:solidFill>
                          <a:latin typeface="Calibri"/>
                        </a:rPr>
                        <a:t>PDF, Word, spreadsheets, text</a:t>
                      </a:r>
                    </a:p>
                  </a:txBody>
                  <a:tcPr marT="45720" marB="45720">
                    <a:solidFill>
                      <a:srgbClr val="FFFFFF"/>
                    </a:solidFill>
                  </a:tcPr>
                </a:tc>
                <a:tc>
                  <a:txBody>
                    <a:bodyPr/>
                    <a:lstStyle/>
                    <a:p>
                      <a:r>
                        <a:rPr sz="1500" b="0">
                          <a:solidFill>
                            <a:srgbClr val="111111"/>
                          </a:solidFill>
                          <a:latin typeface="Calibri"/>
                        </a:rPr>
                        <a:t>Custom GPTs can be shared with a team or link</a:t>
                      </a:r>
                    </a:p>
                  </a:txBody>
                  <a:tcPr marT="45720" marB="45720">
                    <a:solidFill>
                      <a:srgbClr val="FFFFFF"/>
                    </a:solidFill>
                  </a:tcPr>
                </a:tc>
              </a:tr>
              <a:tr h="932688">
                <a:tc>
                  <a:txBody>
                    <a:bodyPr/>
                    <a:lstStyle/>
                    <a:p>
                      <a:r>
                        <a:rPr sz="1500" b="0">
                          <a:solidFill>
                            <a:srgbClr val="111111"/>
                          </a:solidFill>
                          <a:latin typeface="Calibri"/>
                        </a:rPr>
                        <a:t>Claude</a:t>
                      </a:r>
                    </a:p>
                  </a:txBody>
                  <a:tcPr marT="45720" marB="45720">
                    <a:solidFill>
                      <a:srgbClr val="FFFFFF"/>
                    </a:solidFill>
                  </a:tcPr>
                </a:tc>
                <a:tc>
                  <a:txBody>
                    <a:bodyPr/>
                    <a:lstStyle/>
                    <a:p>
                      <a:r>
                        <a:rPr sz="1500" b="0">
                          <a:solidFill>
                            <a:srgbClr val="111111"/>
                          </a:solidFill>
                          <a:latin typeface="Calibri"/>
                        </a:rPr>
                        <a:t>Projects with project knowledge</a:t>
                      </a:r>
                    </a:p>
                  </a:txBody>
                  <a:tcPr marT="45720" marB="45720">
                    <a:solidFill>
                      <a:srgbClr val="FFFFFF"/>
                    </a:solidFill>
                  </a:tcPr>
                </a:tc>
                <a:tc>
                  <a:txBody>
                    <a:bodyPr/>
                    <a:lstStyle/>
                    <a:p>
                      <a:r>
                        <a:rPr sz="1500" b="0">
                          <a:solidFill>
                            <a:srgbClr val="111111"/>
                          </a:solidFill>
                          <a:latin typeface="Calibri"/>
                        </a:rPr>
                        <a:t>PDF, Word, text, images</a:t>
                      </a:r>
                    </a:p>
                  </a:txBody>
                  <a:tcPr marT="45720" marB="45720">
                    <a:solidFill>
                      <a:srgbClr val="FFFFFF"/>
                    </a:solidFill>
                  </a:tcPr>
                </a:tc>
                <a:tc>
                  <a:txBody>
                    <a:bodyPr/>
                    <a:lstStyle/>
                    <a:p>
                      <a:r>
                        <a:rPr sz="1500" b="0">
                          <a:solidFill>
                            <a:srgbClr val="111111"/>
                          </a:solidFill>
                          <a:latin typeface="Calibri"/>
                        </a:rPr>
                        <a:t>Shared within a Team or Enterprise workspace</a:t>
                      </a:r>
                    </a:p>
                  </a:txBody>
                  <a:tcPr marT="45720" marB="45720">
                    <a:solidFill>
                      <a:srgbClr val="FFFFFF"/>
                    </a:solidFill>
                  </a:tcPr>
                </a:tc>
              </a:tr>
              <a:tr h="932688">
                <a:tc>
                  <a:txBody>
                    <a:bodyPr/>
                    <a:lstStyle/>
                    <a:p>
                      <a:r>
                        <a:rPr sz="1500" b="0">
                          <a:solidFill>
                            <a:srgbClr val="111111"/>
                          </a:solidFill>
                          <a:latin typeface="Calibri"/>
                        </a:rPr>
                        <a:t>Microsoft Copilot</a:t>
                      </a:r>
                    </a:p>
                  </a:txBody>
                  <a:tcPr marT="45720" marB="45720">
                    <a:solidFill>
                      <a:srgbClr val="FFFFFF"/>
                    </a:solidFill>
                  </a:tcPr>
                </a:tc>
                <a:tc>
                  <a:txBody>
                    <a:bodyPr/>
                    <a:lstStyle/>
                    <a:p>
                      <a:r>
                        <a:rPr sz="1500" b="0">
                          <a:solidFill>
                            <a:srgbClr val="111111"/>
                          </a:solidFill>
                          <a:latin typeface="Calibri"/>
                        </a:rPr>
                        <a:t>Copilot agents, Copilot Notebooks</a:t>
                      </a:r>
                    </a:p>
                  </a:txBody>
                  <a:tcPr marT="45720" marB="45720">
                    <a:solidFill>
                      <a:srgbClr val="FFFFFF"/>
                    </a:solidFill>
                  </a:tcPr>
                </a:tc>
                <a:tc>
                  <a:txBody>
                    <a:bodyPr/>
                    <a:lstStyle/>
                    <a:p>
                      <a:r>
                        <a:rPr sz="1500" b="0">
                          <a:solidFill>
                            <a:srgbClr val="111111"/>
                          </a:solidFill>
                          <a:latin typeface="Calibri"/>
                        </a:rPr>
                        <a:t>SharePoint and OneDrive files</a:t>
                      </a:r>
                    </a:p>
                  </a:txBody>
                  <a:tcPr marT="45720" marB="45720">
                    <a:solidFill>
                      <a:srgbClr val="FFFFFF"/>
                    </a:solidFill>
                  </a:tcPr>
                </a:tc>
                <a:tc>
                  <a:txBody>
                    <a:bodyPr/>
                    <a:lstStyle/>
                    <a:p>
                      <a:r>
                        <a:rPr sz="1500" b="0">
                          <a:solidFill>
                            <a:srgbClr val="111111"/>
                          </a:solidFill>
                          <a:latin typeface="Calibri"/>
                        </a:rPr>
                        <a:t>Through Microsoft 365 permissions</a:t>
                      </a:r>
                    </a:p>
                  </a:txBody>
                  <a:tcPr marT="45720" marB="45720">
                    <a:solidFill>
                      <a:srgbClr val="FFFFFF"/>
                    </a:solidFill>
                  </a:tcPr>
                </a:tc>
              </a:tr>
              <a:tr h="932688">
                <a:tc>
                  <a:txBody>
                    <a:bodyPr/>
                    <a:lstStyle/>
                    <a:p>
                      <a:r>
                        <a:rPr sz="1500" b="0">
                          <a:solidFill>
                            <a:srgbClr val="111111"/>
                          </a:solidFill>
                          <a:latin typeface="Calibri"/>
                        </a:rPr>
                        <a:t>Google Gemini</a:t>
                      </a:r>
                    </a:p>
                  </a:txBody>
                  <a:tcPr marT="45720" marB="45720">
                    <a:solidFill>
                      <a:srgbClr val="FFFFFF"/>
                    </a:solidFill>
                  </a:tcPr>
                </a:tc>
                <a:tc>
                  <a:txBody>
                    <a:bodyPr/>
                    <a:lstStyle/>
                    <a:p>
                      <a:r>
                        <a:rPr sz="1500" b="0">
                          <a:solidFill>
                            <a:srgbClr val="111111"/>
                          </a:solidFill>
                          <a:latin typeface="Calibri"/>
                        </a:rPr>
                        <a:t>Gems</a:t>
                      </a:r>
                    </a:p>
                  </a:txBody>
                  <a:tcPr marT="45720" marB="45720">
                    <a:solidFill>
                      <a:srgbClr val="FFFFFF"/>
                    </a:solidFill>
                  </a:tcPr>
                </a:tc>
                <a:tc>
                  <a:txBody>
                    <a:bodyPr/>
                    <a:lstStyle/>
                    <a:p>
                      <a:r>
                        <a:rPr sz="1500" b="0">
                          <a:solidFill>
                            <a:srgbClr val="111111"/>
                          </a:solidFill>
                          <a:latin typeface="Calibri"/>
                        </a:rPr>
                        <a:t>Google Drive files</a:t>
                      </a:r>
                    </a:p>
                  </a:txBody>
                  <a:tcPr marT="45720" marB="45720">
                    <a:solidFill>
                      <a:srgbClr val="FFFFFF"/>
                    </a:solidFill>
                  </a:tcPr>
                </a:tc>
                <a:tc>
                  <a:txBody>
                    <a:bodyPr/>
                    <a:lstStyle/>
                    <a:p>
                      <a:r>
                        <a:rPr sz="1500" b="0">
                          <a:solidFill>
                            <a:srgbClr val="111111"/>
                          </a:solidFill>
                          <a:latin typeface="Calibri"/>
                        </a:rPr>
                        <a:t>Shared with Workspace users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summarise what does not fit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summarization.png"/>
          <p:cNvPicPr>
            <a:picLocks noChangeAspect="1"/>
          </p:cNvPicPr>
          <p:nvPr/>
        </p:nvPicPr>
        <p:blipFill>
          <a:blip r:embed="rId2"/>
          <a:stretch>
            <a:fillRect/>
          </a:stretch>
        </p:blipFill>
        <p:spPr>
          <a:xfrm>
            <a:off x="2714144" y="1280160"/>
            <a:ext cx="676340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Long material is condensed so the essentials fit in the context window.</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index them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creation.png"/>
          <p:cNvPicPr>
            <a:picLocks noChangeAspect="1"/>
          </p:cNvPicPr>
          <p:nvPr/>
        </p:nvPicPr>
        <p:blipFill>
          <a:blip r:embed="rId2"/>
          <a:stretch>
            <a:fillRect/>
          </a:stretch>
        </p:blipFill>
        <p:spPr>
          <a:xfrm>
            <a:off x="2855685" y="1280160"/>
            <a:ext cx="64803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Uploaded files are cut into chunks and indexed by meaning, so the right passage can be found later.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...and fetch only the relevant passage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retrieval.png"/>
          <p:cNvPicPr>
            <a:picLocks noChangeAspect="1"/>
          </p:cNvPicPr>
          <p:nvPr/>
        </p:nvPicPr>
        <p:blipFill>
          <a:blip r:embed="rId2"/>
          <a:stretch>
            <a:fillRect/>
          </a:stretch>
        </p:blipFill>
        <p:spPr>
          <a:xfrm>
            <a:off x="3267134" y="1280160"/>
            <a:ext cx="565742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question finds the closest chunks; they are placed in the context window; the model answers from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department assistant: the simplest agent you will meet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model, instructions, and memory in the form of your documents</a:t>
            </a:r>
          </a:p>
          <a:p>
            <a:pPr>
              <a:spcAft>
                <a:spcPts val="1200"/>
              </a:spcAft>
            </a:pPr>
            <a:r>
              <a:rPr sz="2200">
                <a:solidFill>
                  <a:srgbClr val="111111"/>
                </a:solidFill>
                <a:latin typeface="Calibri"/>
              </a:rPr>
              <a:t>•  No tools yet, so it can answer but not act</a:t>
            </a:r>
          </a:p>
          <a:p>
            <a:pPr>
              <a:spcAft>
                <a:spcPts val="1200"/>
              </a:spcAft>
            </a:pPr>
            <a:r>
              <a:rPr sz="2200">
                <a:solidFill>
                  <a:srgbClr val="111111"/>
                </a:solidFill>
                <a:latin typeface="Calibri"/>
              </a:rPr>
              <a:t>•  That is a good thing while you learn what it gets wrong</a:t>
            </a:r>
          </a:p>
          <a:p>
            <a:pPr>
              <a:spcAft>
                <a:spcPts val="1200"/>
              </a:spcAft>
            </a:pPr>
            <a:r>
              <a:rPr sz="2200">
                <a:solidFill>
                  <a:srgbClr val="111111"/>
                </a:solidFill>
                <a:latin typeface="Calibri"/>
              </a:rPr>
              <a:t>•  On Day 4 (Module 8) the same assistant gets tools and becomes an agent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memory at full scale (Generative Agents,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nerative-agents.png"/>
          <p:cNvPicPr>
            <a:picLocks noChangeAspect="1"/>
          </p:cNvPicPr>
          <p:nvPr/>
        </p:nvPicPr>
        <p:blipFill>
          <a:blip r:embed="rId2"/>
          <a:stretch>
            <a:fillRect/>
          </a:stretch>
        </p:blipFill>
        <p:spPr>
          <a:xfrm>
            <a:off x="2333191" y="1280160"/>
            <a:ext cx="752531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Simulated characters with a memory stream, reflection and planning. Your department assistant is the first rung of this ladder.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Data goes where the model goes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Before you upload a policy, a contract or anything with personal data, check your organisation's rules and the product's data terms. Consumer tiers may use uploads for training; business tiers usually do not. Until Day 6 covers this properly, use public or dummy documents in the labs.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Where prompts fail: hallucination and over-confidence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plausible fact looks exactly like a correct one</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hallucination is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issues.png"/>
          <p:cNvPicPr>
            <a:picLocks noChangeAspect="1"/>
          </p:cNvPicPr>
          <p:nvPr/>
        </p:nvPicPr>
        <p:blipFill>
          <a:blip r:embed="rId2"/>
          <a:stretch>
            <a:fillRect/>
          </a:stretch>
        </p:blipFill>
        <p:spPr>
          <a:xfrm>
            <a:off x="548640" y="1447977"/>
            <a:ext cx="6949440" cy="382488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produces the most plausible next words. When it lacks a fact, it produces a plausible fact instead.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It looks exactly like a correct answer</a:t>
            </a:r>
          </a:p>
          <a:p>
            <a:pPr>
              <a:spcAft>
                <a:spcPts val="1000"/>
              </a:spcAft>
            </a:pPr>
            <a:r>
              <a:rPr sz="1800">
                <a:solidFill>
                  <a:srgbClr val="111111"/>
                </a:solidFill>
                <a:latin typeface="Calibri"/>
              </a:rPr>
              <a:t>•  It is more likely when the source is missing or not retrieved</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habits that catch most of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Ground it</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Give the model the source (paste the email, upload the policy) and instruct it to answer only from that source, quoting the line it used.</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Give it an exit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'If the answer is not in the document, say so.' A model told it may say 'not found' will say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Check the checkable</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Names, dates, numbers, order IDs and policy clauses can be verified in seconds. Verify them before they leave your desk.</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Symptom, likely cause, fix</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932688">
                <a:tc>
                  <a:txBody>
                    <a:bodyPr/>
                    <a:lstStyle/>
                    <a:p>
                      <a:r>
                        <a:rPr b="1" sz="1500">
                          <a:solidFill>
                            <a:srgbClr val="111111"/>
                          </a:solidFill>
                          <a:latin typeface="Calibri"/>
                        </a:rPr>
                        <a:t>Symptom</a:t>
                      </a:r>
                    </a:p>
                  </a:txBody>
                  <a:tcPr>
                    <a:solidFill>
                      <a:srgbClr val="F2F2F2"/>
                    </a:solidFill>
                  </a:tcPr>
                </a:tc>
                <a:tc>
                  <a:txBody>
                    <a:bodyPr/>
                    <a:lstStyle/>
                    <a:p>
                      <a:r>
                        <a:rPr b="1" sz="1500">
                          <a:solidFill>
                            <a:srgbClr val="111111"/>
                          </a:solidFill>
                          <a:latin typeface="Calibri"/>
                        </a:rPr>
                        <a:t>Likely cause</a:t>
                      </a:r>
                    </a:p>
                  </a:txBody>
                  <a:tcPr>
                    <a:solidFill>
                      <a:srgbClr val="F2F2F2"/>
                    </a:solidFill>
                  </a:tcPr>
                </a:tc>
                <a:tc>
                  <a:txBody>
                    <a:bodyPr/>
                    <a:lstStyle/>
                    <a:p>
                      <a:r>
                        <a:rPr b="1" sz="1500">
                          <a:solidFill>
                            <a:srgbClr val="111111"/>
                          </a:solidFill>
                          <a:latin typeface="Calibri"/>
                        </a:rPr>
                        <a:t>Fix</a:t>
                      </a:r>
                    </a:p>
                  </a:txBody>
                  <a:tcPr>
                    <a:solidFill>
                      <a:srgbClr val="F2F2F2"/>
                    </a:solidFill>
                  </a:tcPr>
                </a:tc>
              </a:tr>
              <a:tr h="932688">
                <a:tc>
                  <a:txBody>
                    <a:bodyPr/>
                    <a:lstStyle/>
                    <a:p>
                      <a:r>
                        <a:rPr sz="1500" b="0">
                          <a:solidFill>
                            <a:srgbClr val="111111"/>
                          </a:solidFill>
                          <a:latin typeface="Calibri"/>
                        </a:rPr>
                        <a:t>Cites a policy section that does not exist</a:t>
                      </a:r>
                    </a:p>
                  </a:txBody>
                  <a:tcPr marT="45720" marB="45720">
                    <a:solidFill>
                      <a:srgbClr val="FFFFFF"/>
                    </a:solidFill>
                  </a:tcPr>
                </a:tc>
                <a:tc>
                  <a:txBody>
                    <a:bodyPr/>
                    <a:lstStyle/>
                    <a:p>
                      <a:r>
                        <a:rPr sz="1500" b="0">
                          <a:solidFill>
                            <a:srgbClr val="111111"/>
                          </a:solidFill>
                          <a:latin typeface="Calibri"/>
                        </a:rPr>
                        <a:t>No source provided, or source not searched</a:t>
                      </a:r>
                    </a:p>
                  </a:txBody>
                  <a:tcPr marT="45720" marB="45720">
                    <a:solidFill>
                      <a:srgbClr val="FFFFFF"/>
                    </a:solidFill>
                  </a:tcPr>
                </a:tc>
                <a:tc>
                  <a:txBody>
                    <a:bodyPr/>
                    <a:lstStyle/>
                    <a:p>
                      <a:r>
                        <a:rPr sz="1500" b="0">
                          <a:solidFill>
                            <a:srgbClr val="111111"/>
                          </a:solidFill>
                          <a:latin typeface="Calibri"/>
                        </a:rPr>
                        <a:t>Upload the policy, require a quote</a:t>
                      </a:r>
                    </a:p>
                  </a:txBody>
                  <a:tcPr marT="45720" marB="45720">
                    <a:solidFill>
                      <a:srgbClr val="FFFFFF"/>
                    </a:solidFill>
                  </a:tcPr>
                </a:tc>
              </a:tr>
              <a:tr h="932688">
                <a:tc>
                  <a:txBody>
                    <a:bodyPr/>
                    <a:lstStyle/>
                    <a:p>
                      <a:r>
                        <a:rPr sz="1500" b="0">
                          <a:solidFill>
                            <a:srgbClr val="111111"/>
                          </a:solidFill>
                          <a:latin typeface="Calibri"/>
                        </a:rPr>
                        <a:t>Different category for the same email on two runs</a:t>
                      </a:r>
                    </a:p>
                  </a:txBody>
                  <a:tcPr marT="45720" marB="45720">
                    <a:solidFill>
                      <a:srgbClr val="FFFFFF"/>
                    </a:solidFill>
                  </a:tcPr>
                </a:tc>
                <a:tc>
                  <a:txBody>
                    <a:bodyPr/>
                    <a:lstStyle/>
                    <a:p>
                      <a:r>
                        <a:rPr sz="1500" b="0">
                          <a:solidFill>
                            <a:srgbClr val="111111"/>
                          </a:solidFill>
                          <a:latin typeface="Calibri"/>
                        </a:rPr>
                        <a:t>Categories not defined, no examples</a:t>
                      </a:r>
                    </a:p>
                  </a:txBody>
                  <a:tcPr marT="45720" marB="45720">
                    <a:solidFill>
                      <a:srgbClr val="FFFFFF"/>
                    </a:solidFill>
                  </a:tcPr>
                </a:tc>
                <a:tc>
                  <a:txBody>
                    <a:bodyPr/>
                    <a:lstStyle/>
                    <a:p>
                      <a:r>
                        <a:rPr sz="1500" b="0">
                          <a:solidFill>
                            <a:srgbClr val="111111"/>
                          </a:solidFill>
                          <a:latin typeface="Calibri"/>
                        </a:rPr>
                        <a:t>List allowed values, add few-shot examples</a:t>
                      </a:r>
                    </a:p>
                  </a:txBody>
                  <a:tcPr marT="45720" marB="45720">
                    <a:solidFill>
                      <a:srgbClr val="FFFFFF"/>
                    </a:solidFill>
                  </a:tcPr>
                </a:tc>
              </a:tr>
              <a:tr h="932688">
                <a:tc>
                  <a:txBody>
                    <a:bodyPr/>
                    <a:lstStyle/>
                    <a:p>
                      <a:r>
                        <a:rPr sz="1500" b="0">
                          <a:solidFill>
                            <a:srgbClr val="111111"/>
                          </a:solidFill>
                          <a:latin typeface="Calibri"/>
                        </a:rPr>
                        <a:t>Long, polite, says nothing</a:t>
                      </a:r>
                    </a:p>
                  </a:txBody>
                  <a:tcPr marT="45720" marB="45720">
                    <a:solidFill>
                      <a:srgbClr val="FFFFFF"/>
                    </a:solidFill>
                  </a:tcPr>
                </a:tc>
                <a:tc>
                  <a:txBody>
                    <a:bodyPr/>
                    <a:lstStyle/>
                    <a:p>
                      <a:r>
                        <a:rPr sz="1500" b="0">
                          <a:solidFill>
                            <a:srgbClr val="111111"/>
                          </a:solidFill>
                          <a:latin typeface="Calibri"/>
                        </a:rPr>
                        <a:t>No task, no format</a:t>
                      </a:r>
                    </a:p>
                  </a:txBody>
                  <a:tcPr marT="45720" marB="45720">
                    <a:solidFill>
                      <a:srgbClr val="FFFFFF"/>
                    </a:solidFill>
                  </a:tcPr>
                </a:tc>
                <a:tc>
                  <a:txBody>
                    <a:bodyPr/>
                    <a:lstStyle/>
                    <a:p>
                      <a:r>
                        <a:rPr sz="1500" b="0">
                          <a:solidFill>
                            <a:srgbClr val="111111"/>
                          </a:solidFill>
                          <a:latin typeface="Calibri"/>
                        </a:rPr>
                        <a:t>One verb, labelled output lines, word limit</a:t>
                      </a:r>
                    </a:p>
                  </a:txBody>
                  <a:tcPr marT="45720" marB="45720">
                    <a:solidFill>
                      <a:srgbClr val="FFFFFF"/>
                    </a:solidFill>
                  </a:tcPr>
                </a:tc>
              </a:tr>
              <a:tr h="932688">
                <a:tc>
                  <a:txBody>
                    <a:bodyPr/>
                    <a:lstStyle/>
                    <a:p>
                      <a:r>
                        <a:rPr sz="1500" b="0">
                          <a:solidFill>
                            <a:srgbClr val="111111"/>
                          </a:solidFill>
                          <a:latin typeface="Calibri"/>
                        </a:rPr>
                        <a:t>Confident answer to an ambiguous request</a:t>
                      </a:r>
                    </a:p>
                  </a:txBody>
                  <a:tcPr marT="45720" marB="45720">
                    <a:solidFill>
                      <a:srgbClr val="FFFFFF"/>
                    </a:solidFill>
                  </a:tcPr>
                </a:tc>
                <a:tc>
                  <a:txBody>
                    <a:bodyPr/>
                    <a:lstStyle/>
                    <a:p>
                      <a:r>
                        <a:rPr sz="1500" b="0">
                          <a:solidFill>
                            <a:srgbClr val="111111"/>
                          </a:solidFill>
                          <a:latin typeface="Calibri"/>
                        </a:rPr>
                        <a:t>No 'unclear' option</a:t>
                      </a:r>
                    </a:p>
                  </a:txBody>
                  <a:tcPr marT="45720" marB="45720">
                    <a:solidFill>
                      <a:srgbClr val="FFFFFF"/>
                    </a:solidFill>
                  </a:tcPr>
                </a:tc>
                <a:tc>
                  <a:txBody>
                    <a:bodyPr/>
                    <a:lstStyle/>
                    <a:p>
                      <a:r>
                        <a:rPr sz="1500" b="0">
                          <a:solidFill>
                            <a:srgbClr val="111111"/>
                          </a:solidFill>
                          <a:latin typeface="Calibri"/>
                        </a:rPr>
                        <a:t>Add the unsure clause and route unclear items to a person</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Tools change fast; your templates and test set travel with you</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amework-growth.png"/>
          <p:cNvPicPr>
            <a:picLocks noChangeAspect="1"/>
          </p:cNvPicPr>
          <p:nvPr/>
        </p:nvPicPr>
        <p:blipFill>
          <a:blip r:embed="rId2"/>
          <a:stretch>
            <a:fillRect/>
          </a:stretch>
        </p:blipFill>
        <p:spPr>
          <a:xfrm>
            <a:off x="2993288" y="1280160"/>
            <a:ext cx="62051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number of agent frameworks and products keeps growing. The five parts and the ten-row test set work in all of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prompt library and department assistant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minutes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(1 to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Create the library document</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Name it M2-prompt-library. Five headings: Triage an email, Summarise a meeting transcript, Draft a reply, Extract fields from a form, Classify a request.</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Write each template with the five parts</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Role, context, task, constraints, output format, with [square-bracket] placeholders a colleague can fill in.</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Add examples to the classifier</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Four allowed categories, one example each, plus a fifth awkward example that should be 'other'.</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Build the ten-row test set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Ten realistic inputs with the expected category; run the prompt; record the model's answer; count matches.</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(5 to 7)</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Fix and re-run</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For every mismatch, change the prompt (a constraint or an example) and run all ten again. Record the second score.</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Create the department assistant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 Project, custom GPT, Gem or Copilot agent. Paste the instructions on the next slide; upload two public policy documents.</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Test the assistant with a trap</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Three questions the documents answer, two they do not. Does it say 'not covered' or invent? Record the results.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Template skeleton (step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[role] in [department].</a:t>
            </a:r>
          </a:p>
          <a:p>
            <a:pPr algn="l"/>
            <a:r>
              <a:rPr sz="1600" b="0" i="0">
                <a:solidFill>
                  <a:srgbClr val="111111"/>
                </a:solidFill>
                <a:latin typeface="Courier New"/>
              </a:rPr>
              <a:t>Context: [two or three facts and definitions the model must know]</a:t>
            </a:r>
          </a:p>
          <a:p>
            <a:pPr algn="l"/>
            <a:r>
              <a:rPr sz="1600" b="0" i="0">
                <a:solidFill>
                  <a:srgbClr val="111111"/>
                </a:solidFill>
                <a:latin typeface="Courier New"/>
              </a:rPr>
              <a:t>Task: [one verb, one deliverable]</a:t>
            </a:r>
          </a:p>
          <a:p>
            <a:pPr algn="l"/>
            <a:r>
              <a:rPr sz="1600" b="0" i="0">
                <a:solidFill>
                  <a:srgbClr val="111111"/>
                </a:solidFill>
                <a:latin typeface="Courier New"/>
              </a:rPr>
              <a:t>Constraints: Use only the information provided. If something is unclear or missing,</a:t>
            </a:r>
          </a:p>
          <a:p>
            <a:pPr algn="l"/>
            <a:r>
              <a:rPr sz="1600" b="0" i="0">
                <a:solidFill>
                  <a:srgbClr val="111111"/>
                </a:solidFill>
                <a:latin typeface="Courier New"/>
              </a:rPr>
              <a:t>write "unclear". Maximum [N] words. Tone: [plain / formal].</a:t>
            </a:r>
          </a:p>
          <a:p>
            <a:pPr algn="l"/>
            <a:r>
              <a:rPr sz="1600" b="0" i="0">
                <a:solidFill>
                  <a:srgbClr val="111111"/>
                </a:solidFill>
                <a:latin typeface="Courier New"/>
              </a:rPr>
              <a:t>Output format (exactly these lines):</a:t>
            </a:r>
          </a:p>
          <a:p>
            <a:pPr algn="l"/>
            <a:r>
              <a:rPr sz="1600" b="0" i="0">
                <a:solidFill>
                  <a:srgbClr val="111111"/>
                </a:solidFill>
                <a:latin typeface="Courier New"/>
              </a:rPr>
              <a:t>[Field 1]:</a:t>
            </a:r>
          </a:p>
          <a:p>
            <a:pPr algn="l"/>
            <a:r>
              <a:rPr sz="1600" b="0" i="0">
                <a:solidFill>
                  <a:srgbClr val="111111"/>
                </a:solidFill>
                <a:latin typeface="Courier New"/>
              </a:rPr>
              <a:t>[Field 2]:</a:t>
            </a:r>
          </a:p>
          <a:p>
            <a:pPr algn="l"/>
            <a:r>
              <a:rPr sz="1600" b="0" i="0">
                <a:solidFill>
                  <a:srgbClr val="111111"/>
                </a:solidFill>
                <a:latin typeface="Courier New"/>
              </a:rPr>
              <a:t>[Field 3]:</a:t>
            </a:r>
          </a:p>
          <a:p>
            <a:pPr algn="l"/>
            <a:r>
              <a:rPr sz="1600" b="0" i="0">
                <a:solidFill>
                  <a:srgbClr val="111111"/>
                </a:solidFill>
                <a:latin typeface="Courier New"/>
              </a:rPr>
              <a:t/>
            </a:r>
          </a:p>
          <a:p>
            <a:pPr algn="l"/>
            <a:r>
              <a:rPr sz="1600" b="0" i="0">
                <a:solidFill>
                  <a:srgbClr val="111111"/>
                </a:solidFill>
                <a:latin typeface="Courier New"/>
              </a:rPr>
              <a:t>Input: [paste text]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Assistant instructions (step 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the [department] policy assistant. Answer questions only from the uploaded documents.</a:t>
            </a:r>
          </a:p>
          <a:p>
            <a:pPr algn="l"/>
            <a:r>
              <a:rPr sz="1600" b="0" i="0">
                <a:solidFill>
                  <a:srgbClr val="111111"/>
                </a:solidFill>
                <a:latin typeface="Courier New"/>
              </a:rPr>
              <a:t>For every answer, quote the sentence you relied on and name the document.</a:t>
            </a:r>
          </a:p>
          <a:p>
            <a:pPr algn="l"/>
            <a:r>
              <a:rPr sz="1600" b="0" i="0">
                <a:solidFill>
                  <a:srgbClr val="111111"/>
                </a:solidFill>
                <a:latin typeface="Courier New"/>
              </a:rPr>
              <a:t>If the answer is not in the documents, reply: "Not covered by the uploaded policies.</a:t>
            </a:r>
          </a:p>
          <a:p>
            <a:pPr algn="l"/>
            <a:r>
              <a:rPr sz="1600" b="0" i="0">
                <a:solidFill>
                  <a:srgbClr val="111111"/>
                </a:solidFill>
                <a:latin typeface="Courier New"/>
              </a:rPr>
              <a:t>Please ask [named person]." Keep answers under 120 words.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The M2-prompt-library document (five templates, test scores before and after, the assistant's trap-test results) plus a screenshot of the assistant answering one question with a quotation.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 five prompt parts is most often missing from a prompt that gives a different shape of answer every time?</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Role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Context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Output format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Task</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 five prompt parts is most often missing from a prompt that gives a different shape of answer every time?</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Role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Context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Output format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Task</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an explicit output format the model chooses its own shape each run, which breaks anything downstream.</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What is few-shot prompting?</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Asking the same question several times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Including worked examples of input and expected output inside the prompt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Using fewer than ten words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Splitting a task across several models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What is few-shot prompting?</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Asking the same question several times</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Including worked examples of input and expected output inside the prompt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Using fewer than ten words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Splitting a task across several models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Examples inside the prompt show the model the pattern to copy, which is more reliable than describing it.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The best fix for a classifier that mislabels two of ten test emails is to...</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Add 'please be more accurate' to the prompt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Add a constraint or an example that covers the failing cases, then re-run all ten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Switch to a longer prompt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Remove the two awkward emails from the test set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The best fix for a classifier that mislabels two of ten test emails is to...</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Add 'please be more accurate' to the prompt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Add a constraint or an example that covers the failing cases, then re-run all ten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Switch to a longer prompt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Remove the two awkward emails from the test set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Prompts improve through specific constraints and examples, tested against the whole set so you do not break what already worked.</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A department assistant built from a Project with uploaded documents is best described as...</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model plus instructions plus memory, with no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An automation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 search engine</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A department assistant built from a Project with uploaded documents is best described as...</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model plus instructions plus memory, with no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An automation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 search engine</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It has three of the four agent parts. Without tools it can answer but cannot act, which is ideal while you learn what it gets wrong.</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single instruction most reduces the damage from hallucination?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Answer in under 50 words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Use a friendly tone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If the answer is not in the source, say so instead of guessing</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Always give three options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single instruction most reduces the damage from hallucination?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Answer in under 50 words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Use a friendly tone</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If the answer is not in the source, say so instead of guessing</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Always give three options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Giving the model an explicit way to say 'not found' turns an invented answer into a flag a person can act on.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prompt is a work instruction: role, context, task, constraints, output format. Missing parts cause most failures.</a:t>
            </a:r>
          </a:p>
          <a:p>
            <a:pPr>
              <a:spcAft>
                <a:spcPts val="1200"/>
              </a:spcAft>
            </a:pPr>
            <a:r>
              <a:rPr sz="2200">
                <a:solidFill>
                  <a:srgbClr val="111111"/>
                </a:solidFill>
                <a:latin typeface="Calibri"/>
              </a:rPr>
              <a:t>•  Ask for labelled fields and allowed values, and show examples; that is what makes an answer usable by an automation.</a:t>
            </a:r>
          </a:p>
          <a:p>
            <a:pPr>
              <a:spcAft>
                <a:spcPts val="1200"/>
              </a:spcAft>
            </a:pPr>
            <a:r>
              <a:rPr sz="2200">
                <a:solidFill>
                  <a:srgbClr val="111111"/>
                </a:solidFill>
                <a:latin typeface="Calibri"/>
              </a:rPr>
              <a:t>•  Improve prompts with a ten-row test set, one constraint or example at a time, and keep the set for later.</a:t>
            </a:r>
          </a:p>
          <a:p>
            <a:pPr>
              <a:spcAft>
                <a:spcPts val="1200"/>
              </a:spcAft>
            </a:pPr>
            <a:r>
              <a:rPr sz="2200">
                <a:solidFill>
                  <a:srgbClr val="111111"/>
                </a:solidFill>
                <a:latin typeface="Calibri"/>
              </a:rPr>
              <a:t>•  Projects and custom assistants give the model your documents as memory; check data rules before uploading anything real.</a:t>
            </a:r>
          </a:p>
          <a:p>
            <a:pPr>
              <a:spcAft>
                <a:spcPts val="1200"/>
              </a:spcAft>
            </a:pPr>
            <a:r>
              <a:rPr sz="2200">
                <a:solidFill>
                  <a:srgbClr val="111111"/>
                </a:solidFill>
                <a:latin typeface="Calibri"/>
              </a:rPr>
              <a:t>•  Ground the model, give it an exit, and verify the checkable facts.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of Day 5: many assistants, one system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components.png"/>
          <p:cNvPicPr>
            <a:picLocks noChangeAspect="1"/>
          </p:cNvPicPr>
          <p:nvPr/>
        </p:nvPicPr>
        <p:blipFill>
          <a:blip r:embed="rId2"/>
          <a:stretch>
            <a:fillRect/>
          </a:stretch>
        </p:blipFill>
        <p:spPr>
          <a:xfrm>
            <a:off x="548640" y="1510244"/>
            <a:ext cx="6949440" cy="3700351"/>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is model, tools, memory, instructions; a supervisor hands out work; a critic reviews it. Everything today scales up to this.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2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Next: Day 2, Workflow Mapping I and II</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prompting for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Prompting best practices (official Claude platform documentation)</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Anthropic, living document updated with each model release · 2026 · platform.claude.com/docs/en/build-with-claude/prompt-engineering/claude-prompting-best-practices</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 explicit about output format and constraints, give 2 to 5 worked examples, and separate context, instructions and examples with clear labels. The vendor's own version of today's five parts and few-shot examples.</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 engineering for business: the 2026 practical guide</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Gend · 5 January 2026 (updated 30 March 2026) · gend.co/blog/prompt-engineering-for-business</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Proposes a business template, R-TCC-COE: role, task, context, content, constraints, output, evaluation. Same skeleton as today's template, plus an explicit evaluation rubric, which is what your ten-row test set provides.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Production prompt engineering in 2026: structured outputs, prompt chaining and optimisation</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AI Workflow Lab, by Marcus Holloway · 13 February 2026 (updated 2 June 2026) · aiworkflowlab.dev/article/production-prompt-engineering-2026-structured-outputs-prompt-chaining-dspy</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Treat prompts as engineered, versioned, tested artefacts; constrain outputs to a fixed shape; split big tasks into chains of small prompts. The 'one verb, one deliverable' and 'fields not prose' rules, written for engineers.</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Beyond the prompt, what matters is the whole information environment the model works in: documents, definitions, memory. Today's 'context' part and the department assistant's uploaded policies are the first step of that discipline.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2: Prompting for Operators. albanna-tutorials.com/ai-administrator/02_prompting_for_operators.html</a:t>
            </a:r>
          </a:p>
          <a:p>
            <a:pPr>
              <a:spcAft>
                <a:spcPts val="600"/>
              </a:spcAft>
            </a:pPr>
            <a:r>
              <a:rPr sz="1400">
                <a:solidFill>
                  <a:srgbClr val="111111"/>
                </a:solidFill>
                <a:latin typeface="Calibri"/>
              </a:rPr>
              <a:t>2.  Al-Banna, A. (2025). LLM Agents, explained visually (tutorial). albanna-tutorials.com/llm_agents.html</a:t>
            </a:r>
          </a:p>
          <a:p>
            <a:pPr>
              <a:spcAft>
                <a:spcPts val="600"/>
              </a:spcAft>
            </a:pPr>
            <a:r>
              <a:rPr sz="1400">
                <a:solidFill>
                  <a:srgbClr val="111111"/>
                </a:solidFill>
                <a:latin typeface="Calibri"/>
              </a:rPr>
              <a:t>3.  Grootendorst, M. (2025). A Visual Guide to LLM Agents. newsletter.maartengrootendorst.com (source of the diagrams in this deck)</a:t>
            </a:r>
          </a:p>
          <a:p>
            <a:pPr>
              <a:spcAft>
                <a:spcPts val="600"/>
              </a:spcAft>
            </a:pPr>
            <a:r>
              <a:rPr sz="1400">
                <a:solidFill>
                  <a:srgbClr val="111111"/>
                </a:solidFill>
                <a:latin typeface="Calibri"/>
              </a:rPr>
              <a:t>4.  Wei, J. et al. (2022). Chain-of-Thought Prompting Elicits Reasoning in Large Language Models. NeurIPS 2022</a:t>
            </a:r>
          </a:p>
          <a:p>
            <a:pPr>
              <a:spcAft>
                <a:spcPts val="600"/>
              </a:spcAft>
            </a:pPr>
            <a:r>
              <a:rPr sz="1400">
                <a:solidFill>
                  <a:srgbClr val="111111"/>
                </a:solidFill>
                <a:latin typeface="Calibri"/>
              </a:rPr>
              <a:t>5.  Kojima, T. et al. (2022). Large Language Models are Zero-Shot Reasoners. NeurIPS 2022</a:t>
            </a:r>
          </a:p>
          <a:p>
            <a:pPr>
              <a:spcAft>
                <a:spcPts val="600"/>
              </a:spcAft>
            </a:pPr>
            <a:r>
              <a:rPr sz="1400">
                <a:solidFill>
                  <a:srgbClr val="111111"/>
                </a:solidFill>
                <a:latin typeface="Calibri"/>
              </a:rPr>
              <a:t>6.  Madaan, A. et al. (2023). Self-Refine: Iterative Refinement with Self-Feedback. NeurIPS 2023</a:t>
            </a:r>
          </a:p>
          <a:p>
            <a:pPr>
              <a:spcAft>
                <a:spcPts val="600"/>
              </a:spcAft>
            </a:pPr>
            <a:r>
              <a:rPr sz="1400">
                <a:solidFill>
                  <a:srgbClr val="111111"/>
                </a:solidFill>
                <a:latin typeface="Calibri"/>
              </a:rPr>
              <a:t>7.  Shinn, N. et al. (2023). Reflexion: Language Agents with Verbal Reinforcement Learning. NeurIPS 2023</a:t>
            </a:r>
          </a:p>
          <a:p>
            <a:pPr>
              <a:spcAft>
                <a:spcPts val="600"/>
              </a:spcAft>
            </a:pPr>
            <a:r>
              <a:rPr sz="1400">
                <a:solidFill>
                  <a:srgbClr val="111111"/>
                </a:solidFill>
                <a:latin typeface="Calibri"/>
              </a:rPr>
              <a:t>8.  Li, G. et al. (2023). CAMEL: Communicative Agents for 'Mind' Exploration of Large Language Model Society. NeurIPS 2023</a:t>
            </a:r>
          </a:p>
          <a:p>
            <a:pPr>
              <a:spcAft>
                <a:spcPts val="600"/>
              </a:spcAft>
            </a:pPr>
            <a:r>
              <a:rPr sz="1400">
                <a:solidFill>
                  <a:srgbClr val="111111"/>
                </a:solidFill>
                <a:latin typeface="Calibri"/>
              </a:rPr>
              <a:t>9.  Park, J. S. et al. (2023). Generative Agents: Interactive Simulacra of Human Behavior. UIST 2023</a:t>
            </a:r>
          </a:p>
          <a:p>
            <a:pPr>
              <a:spcAft>
                <a:spcPts val="600"/>
              </a:spcAft>
            </a:pPr>
            <a:r>
              <a:rPr sz="1400">
                <a:solidFill>
                  <a:srgbClr val="111111"/>
                </a:solidFill>
                <a:latin typeface="Calibri"/>
              </a:rPr>
              <a:t>10.  Lewis, P. et al. (2020). Retrieval-Augmented Generation for Knowledge-Intensive NLP Tasks. NeurIPS 2020</a:t>
            </a:r>
          </a:p>
          <a:p>
            <a:pPr>
              <a:spcAft>
                <a:spcPts val="600"/>
              </a:spcAft>
            </a:pPr>
            <a:r>
              <a:rPr sz="1400">
                <a:solidFill>
                  <a:srgbClr val="111111"/>
                </a:solidFill>
                <a:latin typeface="Calibri"/>
              </a:rPr>
              <a:t>11.  OpenAI Help Center: Projects in ChatGPT; Creating a GPT. help.openai.com</a:t>
            </a:r>
          </a:p>
          <a:p>
            <a:pPr>
              <a:spcAft>
                <a:spcPts val="600"/>
              </a:spcAft>
            </a:pPr>
            <a:r>
              <a:rPr sz="1400">
                <a:solidFill>
                  <a:srgbClr val="111111"/>
                </a:solidFill>
                <a:latin typeface="Calibri"/>
              </a:rPr>
              <a:t>12.  Anthropic Help Center: What are Projects? support.claude.com</a:t>
            </a:r>
          </a:p>
          <a:p>
            <a:pPr>
              <a:spcAft>
                <a:spcPts val="600"/>
              </a:spcAft>
            </a:pPr>
            <a:r>
              <a:rPr sz="1400">
                <a:solidFill>
                  <a:srgbClr val="111111"/>
                </a:solidFill>
                <a:latin typeface="Calibri"/>
              </a:rPr>
              <a:t>13.  Microsoft Learn: Copilot agents and Copilot Notebooks. learn.microsoft.com</a:t>
            </a:r>
          </a:p>
          <a:p>
            <a:pPr>
              <a:spcAft>
                <a:spcPts val="600"/>
              </a:spcAft>
            </a:pPr>
            <a:r>
              <a:rPr sz="1400">
                <a:solidFill>
                  <a:srgbClr val="111111"/>
                </a:solidFill>
                <a:latin typeface="Calibri"/>
              </a:rPr>
              <a:t>14.  Google: Gems in Gemini. support.google.com/gemini</a:t>
            </a:r>
          </a:p>
          <a:p>
            <a:pPr>
              <a:spcAft>
                <a:spcPts val="600"/>
              </a:spcAft>
            </a:pPr>
            <a:r>
              <a:rPr sz="1400">
                <a:solidFill>
                  <a:srgbClr val="111111"/>
                </a:solidFill>
                <a:latin typeface="Calibri"/>
              </a:rPr>
              <a:t>15.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