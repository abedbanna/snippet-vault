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twenty minutes of working time; most participants will finish the inventory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demo script in the instructor guide. The purpose is to make the four parts visible in products people already use, and to set up Session 2: the shape of the answer is the problem prompting solves.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Circulate (or watch the shared screens) during steps 1 to 3;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Maarten Grootendorst's 'A Visual Guide to LLM Agents', reused with credit as on the course website.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518160">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518160">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518160">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518160">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518160">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518160">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518160">
                <a:tc>
                  <a:txBody>
                    <a:bodyPr/>
                    <a:lstStyle/>
                    <a:p>
                      <a:r>
                        <a:rPr sz="1100" b="0">
                          <a:solidFill>
                            <a:srgbClr val="111111"/>
                          </a:solidFill>
                          <a:latin typeface="Calibri"/>
                        </a:rPr>
                        <a:t>85 to 95</a:t>
                      </a:r>
                    </a:p>
                  </a:txBody>
                  <a:tcPr marT="45720" marB="45720">
                    <a:solidFill>
                      <a:srgbClr val="FFFFFF"/>
                    </a:solidFill>
                  </a:tcPr>
                </a:tc>
                <a:tc>
                  <a:txBody>
                    <a:bodyPr/>
                    <a:lstStyle/>
                    <a:p>
                      <a:r>
                        <a:rPr sz="1100" b="0">
                          <a:solidFill>
                            <a:srgbClr val="111111"/>
                          </a:solidFill>
                          <a:latin typeface="Calibri"/>
                        </a:rPr>
                        <a:t>Examples and live demo</a:t>
                      </a:r>
                    </a:p>
                  </a:txBody>
                  <a:tcPr marT="45720" marB="45720">
                    <a:solidFill>
                      <a:srgbClr val="FFFFFF"/>
                    </a:solidFill>
                  </a:tcPr>
                </a:tc>
                <a:tc>
                  <a:txBody>
                    <a:bodyPr/>
                    <a:lstStyle/>
                    <a:p>
                      <a:r>
                        <a:rPr sz="1100" b="0">
                          <a:solidFill>
                            <a:srgbClr val="111111"/>
                          </a:solidFill>
                          <a:latin typeface="Calibri"/>
                        </a:rPr>
                        <a:t>Five admin tasks and their best design; same task in four assistants</a:t>
                      </a:r>
                    </a:p>
                  </a:txBody>
                  <a:tcPr marT="45720" marB="45720">
                    <a:solidFill>
                      <a:srgbClr val="FFFFFF"/>
                    </a:solidFill>
                  </a:tcPr>
                </a:tc>
              </a:tr>
              <a:tr h="518160">
                <a:tc>
                  <a:txBody>
                    <a:bodyPr/>
                    <a:lstStyle/>
                    <a:p>
                      <a:r>
                        <a:rPr sz="1100" b="0">
                          <a:solidFill>
                            <a:srgbClr val="111111"/>
                          </a:solidFill>
                          <a:latin typeface="Calibri"/>
                        </a:rPr>
                        <a:t>95 to 115</a:t>
                      </a:r>
                    </a:p>
                  </a:txBody>
                  <a:tcPr marT="45720" marB="45720">
                    <a:solidFill>
                      <a:srgbClr val="FFFFFF"/>
                    </a:solidFill>
                  </a:tcPr>
                </a:tc>
                <a:tc>
                  <a:txBody>
                    <a:bodyPr/>
                    <a:lstStyle/>
                    <a:p>
                      <a:r>
                        <a:rPr sz="1100" b="0">
                          <a:solidFill>
                            <a:srgbClr val="111111"/>
                          </a:solidFill>
                          <a:latin typeface="Calibri"/>
                        </a:rPr>
                        <a:t>Lab</a:t>
                      </a:r>
                    </a:p>
                  </a:txBody>
                  <a:tcPr marT="45720" marB="45720">
                    <a:solidFill>
                      <a:srgbClr val="FFFFFF"/>
                    </a:solidFill>
                  </a:tcPr>
                </a:tc>
                <a:tc>
                  <a:txBody>
                    <a:bodyPr/>
                    <a:lstStyle/>
                    <a:p>
                      <a:r>
                        <a:rPr sz="1100" b="0">
                          <a:solidFill>
                            <a:srgbClr val="111111"/>
                          </a:solidFill>
                          <a:latin typeface="Calibri"/>
                        </a:rPr>
                        <a:t>Task inventory: ten tasks, tagged, classified, challenged by an assistant</a:t>
                      </a:r>
                    </a:p>
                  </a:txBody>
                  <a:tcPr marT="45720" marB="45720">
                    <a:solidFill>
                      <a:srgbClr val="FFFFFF"/>
                    </a:solidFill>
                  </a:tcPr>
                </a:tc>
              </a:tr>
              <a:tr h="518160">
                <a:tc>
                  <a:txBody>
                    <a:bodyPr/>
                    <a:lstStyle/>
                    <a:p>
                      <a:r>
                        <a:rPr sz="1100" b="0">
                          <a:solidFill>
                            <a:srgbClr val="111111"/>
                          </a:solidFill>
                          <a:latin typeface="Calibri"/>
                        </a:rPr>
                        <a:t>115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key takeaways, what to bring to Session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Live demo: the same admin task in four assistants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Paste one maintenance email into ChatGPT: 'Summarise this and tell me what to do'</a:t>
            </a:r>
          </a:p>
          <a:p>
            <a:pPr>
              <a:spcAft>
                <a:spcPts val="1200"/>
              </a:spcAft>
            </a:pPr>
            <a:r>
              <a:rPr sz="2200">
                <a:solidFill>
                  <a:srgbClr val="111111"/>
                </a:solidFill>
                <a:latin typeface="Calibri"/>
              </a:rPr>
              <a:t>•  Repeat in Claude, Copilot or Gemini: notice the shape of the answer differs</a:t>
            </a:r>
          </a:p>
          <a:p>
            <a:pPr>
              <a:spcAft>
                <a:spcPts val="1200"/>
              </a:spcAft>
            </a:pPr>
            <a:r>
              <a:rPr sz="2200">
                <a:solidFill>
                  <a:srgbClr val="111111"/>
                </a:solidFill>
                <a:latin typeface="Calibri"/>
              </a:rPr>
              <a:t>•  Ask for four labelled lines (requester, location, issue, urgency): now a workflow could use it</a:t>
            </a:r>
          </a:p>
          <a:p>
            <a:pPr>
              <a:spcAft>
                <a:spcPts val="1200"/>
              </a:spcAft>
            </a:pPr>
            <a:r>
              <a:rPr sz="2200">
                <a:solidFill>
                  <a:srgbClr val="111111"/>
                </a:solidFill>
                <a:latin typeface="Calibri"/>
              </a:rPr>
              <a:t>•  Ask 'what would you need to create the ticket?': it cannot act. The missing part is tools</a:t>
            </a:r>
          </a:p>
          <a:p>
            <a:pPr>
              <a:spcAft>
                <a:spcPts val="1200"/>
              </a:spcAft>
            </a:pPr>
            <a:r>
              <a:rPr sz="2200">
                <a:solidFill>
                  <a:srgbClr val="111111"/>
                </a:solidFill>
                <a:latin typeface="Calibri"/>
              </a:rPr>
              <a:t>•  Same idea in every product: model, instructions, memory, and (not yet) tools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minutes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In an automation every step is fixed in advance; in an agent the model chooses which tool to use next and when to stop.</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Dashboard</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D.  Dashboard</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four parts are model, tools, memory and instructions. A dashboard is a way to monitor, not a part of the agent.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path is fixed (read, classify, route) and only one step needs a model. That is the workflow-with-AI-step pattern.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 limit a stuck agent burns money and may take more actions than intended. The limit is a basic control.</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Automation removes copying and chasing. Decisions involving money, people or legal exposure need human accountability.</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1: Agents and Automation, Explained. albanna-tutorials.com/ai-administrator/01_agents_and_automation.html</a:t>
            </a:r>
          </a:p>
          <a:p>
            <a:pPr>
              <a:spcAft>
                <a:spcPts val="600"/>
              </a:spcAft>
            </a:pPr>
            <a:r>
              <a:rPr sz="1400">
                <a:solidFill>
                  <a:srgbClr val="111111"/>
                </a:solidFill>
                <a:latin typeface="Calibri"/>
              </a:rPr>
              <a:t>2.  Al-Banna, A. (2025). LLM Agents, explained visually (tutorial). albanna-tutorials.com/llm_agents.html</a:t>
            </a:r>
          </a:p>
          <a:p>
            <a:pPr>
              <a:spcAft>
                <a:spcPts val="600"/>
              </a:spcAft>
            </a:pPr>
            <a:r>
              <a:rPr sz="1400">
                <a:solidFill>
                  <a:srgbClr val="111111"/>
                </a:solidFill>
                <a:latin typeface="Calibri"/>
              </a:rPr>
              <a:t>3.  Grootendorst, M. (2025). A Visual Guide to LLM Agents. newsletter.maartengrootendorst.com (source of the diagrams in this deck)</a:t>
            </a:r>
          </a:p>
          <a:p>
            <a:pPr>
              <a:spcAft>
                <a:spcPts val="600"/>
              </a:spcAft>
            </a:pPr>
            <a:r>
              <a:rPr sz="1400">
                <a:solidFill>
                  <a:srgbClr val="111111"/>
                </a:solidFill>
                <a:latin typeface="Calibri"/>
              </a:rPr>
              <a:t>4.  Alammar, J. and Grootendorst, M. (2024). Hands-On Large Language Models. O'Reilly Media</a:t>
            </a:r>
          </a:p>
          <a:p>
            <a:pPr>
              <a:spcAft>
                <a:spcPts val="600"/>
              </a:spcAft>
            </a:pPr>
            <a:r>
              <a:rPr sz="1400">
                <a:solidFill>
                  <a:srgbClr val="111111"/>
                </a:solidFill>
                <a:latin typeface="Calibri"/>
              </a:rPr>
              <a:t>5.  Yao, S. et al. (2023). ReAct: Synergizing Reasoning and Acting in Language Models. ICLR 2023</a:t>
            </a:r>
          </a:p>
          <a:p>
            <a:pPr>
              <a:spcAft>
                <a:spcPts val="600"/>
              </a:spcAft>
            </a:pPr>
            <a:r>
              <a:rPr sz="1400">
                <a:solidFill>
                  <a:srgbClr val="111111"/>
                </a:solidFill>
                <a:latin typeface="Calibri"/>
              </a:rPr>
              <a:t>6.  Schick, T. et al. (2023). Toolformer: Language Models Can Teach Themselves to Use Tools. NeurIPS 2023</a:t>
            </a:r>
          </a:p>
          <a:p>
            <a:pPr>
              <a:spcAft>
                <a:spcPts val="600"/>
              </a:spcAft>
            </a:pPr>
            <a:r>
              <a:rPr sz="1400">
                <a:solidFill>
                  <a:srgbClr val="111111"/>
                </a:solidFill>
                <a:latin typeface="Calibri"/>
              </a:rPr>
              <a:t>7.  Anthropic (2024). Introducing the Model Context Protocol. modelcontextprotocol.io</a:t>
            </a:r>
          </a:p>
          <a:p>
            <a:pPr>
              <a:spcAft>
                <a:spcPts val="600"/>
              </a:spcAft>
            </a:pPr>
            <a:r>
              <a:rPr sz="1400">
                <a:solidFill>
                  <a:srgbClr val="111111"/>
                </a:solidFill>
                <a:latin typeface="Calibri"/>
              </a:rPr>
              <a:t>8.  Anthropic (2024). Building Effective Agents. anthropic.com/research/building-effective-agents</a:t>
            </a:r>
          </a:p>
          <a:p>
            <a:pPr>
              <a:spcAft>
                <a:spcPts val="600"/>
              </a:spcAft>
            </a:pPr>
            <a:r>
              <a:rPr sz="1400">
                <a:solidFill>
                  <a:srgbClr val="111111"/>
                </a:solidFill>
                <a:latin typeface="Calibri"/>
              </a:rPr>
              <a:t>9.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