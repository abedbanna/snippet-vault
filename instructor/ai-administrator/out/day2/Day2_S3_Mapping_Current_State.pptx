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One sentence promise: by the end of these two hours everyone has a method to draw the process they chose on Day 1 exactly as it runs today, with numbers and named pain points, and has had the map checked by a live AI reviewer. Still no code; the first automation is built on Day 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back to Day 1: participants left with a task inventory and one chosen course task. Today they map that task. The leave policy from Session 2 is reused on purpose: everyone already knows the official rules, so the gap between the rules and what really happens is easy to see.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quickly. The deliverable is the current-state map of their own course task; it is the input to Session 4 and to everything built on Day 3. Mention the Kahoot so phones are ready.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on screen. The break is earlier than on Day 1 because the demo is long.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The point to land: automation freezes whatever you show it, so look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who has seen a new system go live and then everyone kept their old spreadsheet anyway? Raise Hand in Zoom Reactions, or type 'me' in the chat. That spreadsheet is the real process. Automation freezes what you show it; if you never looked, you freeze the workarounds too, or you break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two rows. Top: what the leave policy says (Session 2's document). Bottom: what actually happens. The orange boxes are steps nobody mentioned. Automating the top row would either break the bottom row or leave people doing both. Every orange box is a finding from mapping, not from a tool.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economics plain: an automation project costs weeks; a map costs hours. The map is also what the future-state design in Session 4 and the n8n build on Day 3 are drawn from.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sentence to remember. Steps a stranger cannot do from the description are usually JUDGE steps or steps with hidden knowledge. Both must be found before automating.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including the breakout exercise. Boundaries before boxes.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SIPOC is a one-line summary that stops you mapping the wrong thing. Fill it top to bottom or start from P; both work. The P column is deliberately coarse: five to seven boxes. The detail comes in the swimlane.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trigger line. Today the trigger is an email; officially it is a portal submission. That mismatch is itself a finding. Automation tools need something to listen for: an email arriving, a form submitted, a date. End state: how do you know it is finished? If nobody can say, the process never really ends.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co-host opens Breakout Rooms (assign automatically, 2 to 3 people each, close automatically after 4 minutes with a 30-second countdown) during the SIPOC slide; post the five column names in the chat first, and use 'Broadcast message to all rooms' at minute 3 ('one minute left: write your trigger'). Expect two different triggers ('stock runs low' versus 'someone emails the office manager'). Good: that is the point of writing the trigger down. Model answer: Suppliers = staff, office manager, vendor; Inputs = request, budget, catalogue; Process = request, check budget, approve, order, receive, distribute; Outputs = delivered items, invoice; Customers = staff, finance. Trigger: a request or a low-stock check. End: items delivered and invoice matched.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most of it the live draw.io demo. Have the template open before you click.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swimlane is older than any software: it comes from Rummler and Brache's cross-functional process maps (references). BPMN calls them pools and lanes. We use the plain version.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action per box. If a decision has more than two exits it is usually two decisions. Waits are written on the arrows, and they are usually longer than the 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minutes. Follow the demo steps in the instructor guide. Narrate every choice: why the spreadsheet gets a lane, why the decision has two labelled exits, where the email sits. Ask the group to type the next step in the chat before you draw it. If you run short of time, open the finished file and walk it instead.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with the demo. Count the hand-offs together: eight arrows cross lanes. Point at the dashed lookups (the manager's private sheet, the HR record) and at the decision's No exit. Ask: what is missing? Hold the answer: the bot will find it in the practical (department-head approval at quarter end, escalation after three days).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decides what you automate. People feel slow; usually the process is slow because it queues. In lean terms, process time versus lead time (Rother and Shook in the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totals from the map: 25 minutes of touch time, about 4 working days elapsed, six queues. Ask: if an AI step cut the manager's reading time from 6 minutes to 1, how much faster is the process? Almost not at all. The queues are the target, and queues are fixed by routing and reminders, not by AI.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leave policy even says managers must not keep separate spreadsheets. They do. That is not a reason to leave it off the map; it is the reason to put it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Restart at minute 65 sharp; the tags section is short and the practical cannot slip.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Seven tags, applied to the map everyone has just seen built.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row by row and ask for an example in the chat for each. The fix column previews Session 4 and Day 3. Spend time on RUBBER: approvals that are always given without reading. They feel like control; they are only delay.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group to justify three tags in the chat. Why is HR's portal approval RUBBER? Because the manager already decided and HR approves every request. Why is re-entering in the portal REKEY? Because the request already exists in the email. Where is the JUDGE? The manager's decision on clashes: a real decision about the team.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fear many participants have: mapping is not a plan to remove them. It is how the decisions that need them get named and protected.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including the three-minute role-play.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real case contains the exceptions; a general description leaves them out. Ask 'what happens if' at every decision: if the manager is on leave, if the balance is negative, if the form is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Rehearsed beforehand. The planted leading question: 'You always check the balance in the portal, right?' The HR coordinator answers 'Yes' and only later admits managers email her for balances because they have no portal access. That is the CHASE step on the map. Close with the rules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module. The last rule is the one people skip; the lab makes it a required step.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aicaravan-bot status says mapreview (setup guide). Share the worksheet PDF in the chat. Same bot and server as the Day 1 agent, a different job today: it only reviews maps.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Link to Day 1: same four parts (model, tools, memory, instructions), but here tools and memory are deliberately switched off. A narrow job makes a reliable assistant.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It is the same @aicaravan_bot as Day 1, switched to the reviewer job for this session (setup guide: aicaravan-bot mapreview). Participants who already chatted with it on Day 1 just send a new message. Anyone without Telegram follows the instructor's shared screen and uses the prompt in the worksheet with any AI assistant.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the chat and ask two participants to share their screen with the bot's answer. In Task 1 most people will get the department-head approval at quarter end and the missing escalation after three working days; if not, show the next slide. Task 3 should be politely declined.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of debrief. Ask for one finding per category in the chat. In testing (4 October 2026) the bot found the notice-period, probation and department-head gaps and HR's missing decline path, but missed the three-day escalation. Ask the group what it missed: the answer is in the leave policy, Section 3. That is how you verify an AI reviewer: compare it with a source you trust.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lesson as Session 2's trap questions: verify against the source. It also keeps the lab honest: the bot review is step 7, the colleague confirmation is step 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Kahoot now;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 Day2_S3_Kahoot.xlsx into Kahoot beforehand (Create, then Import spreadsheet). Launch in Classic mode and show the PIN on this slide. Ten minutes covers most of the 20 questions; assign the rest as a challenge. The answer key with rationales is Day2_S3_Kahoot_Answer_Key.pdf.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to show the lab; the work itself is done before Session 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 handout and the template in the chat. Walk the steps in four minutes. The common mistakes: no systems lanes, no wait times, mapping the official version. The deliverable is saved as M3-current-state.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instructions the reviewer bot runs on, so participants without Telegram get the same result in any assistant. Point at the constraint 'Do not suggest automation yet': that is Session 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Session 4 starts from this file. Without it there is nothing to redesign.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five. Then preview Session 4: the same map, redesigned. Remove the RUBBER step, route the waits, add AI only where READ and DRAFT appear, and keep the JUDGE step with a better summary.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two minutes or self-study. Instructors may swap in newer pieces; keep the pattern of source, date and a one-line takeaway tied to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on screen during questions. Course figures were drawn for this course (photos: see Image credits); the leave process and AI Caravan Ltd. are fictional.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Third-party photos and the swimlane example are from Wikimedia Commons under the licences listed; all other figures were drawn for this course. Images were resized; no other changes.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strip.png"/>
          <p:cNvPicPr>
            <a:picLocks noChangeAspect="1"/>
          </p:cNvPicPr>
          <p:nvPr/>
        </p:nvPicPr>
        <p:blipFill>
          <a:blip r:embed="rId2"/>
          <a:stretch>
            <a:fillRect/>
          </a:stretch>
        </p:blipFill>
        <p:spPr>
          <a:xfrm>
            <a:off x="2943333" y="411480"/>
            <a:ext cx="6305028" cy="1005840"/>
          </a:xfrm>
          <a:prstGeom prst="rect">
            <a:avLst/>
          </a:prstGeom>
        </p:spPr>
      </p:pic>
      <p:sp>
        <p:nvSpPr>
          <p:cNvPr id="3" name="Rectangle 2"/>
          <p:cNvSpPr/>
          <p:nvPr/>
        </p:nvSpPr>
        <p:spPr>
          <a:xfrm>
            <a:off x="548640" y="27432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880360"/>
            <a:ext cx="11094415" cy="1280160"/>
          </a:xfrm>
          <a:prstGeom prst="rect">
            <a:avLst/>
          </a:prstGeom>
          <a:noFill/>
        </p:spPr>
        <p:txBody>
          <a:bodyPr wrap="square" anchor="t" lIns="45720" rIns="45720" tIns="27432" bIns="27432">
            <a:spAutoFit/>
          </a:bodyPr>
          <a:lstStyle/>
          <a:p>
            <a:pPr algn="l"/>
            <a:r>
              <a:rPr sz="4000" b="1" i="0">
                <a:solidFill>
                  <a:srgbClr val="111111"/>
                </a:solidFill>
                <a:latin typeface="Calibri"/>
              </a:rPr>
              <a:t>Workflow Mapping I: The Current State</a:t>
            </a:r>
          </a:p>
        </p:txBody>
      </p:sp>
      <p:sp>
        <p:nvSpPr>
          <p:cNvPr id="5" name="TextBox 4"/>
          <p:cNvSpPr txBox="1"/>
          <p:nvPr/>
        </p:nvSpPr>
        <p:spPr>
          <a:xfrm>
            <a:off x="548640" y="416052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AI Administrator: Agentic Workflows &amp; Automation · Day 2 · Session 3</a:t>
            </a:r>
          </a:p>
        </p:txBody>
      </p:sp>
      <p:sp>
        <p:nvSpPr>
          <p:cNvPr id="6" name="TextBox 5"/>
          <p:cNvSpPr txBox="1"/>
          <p:nvPr/>
        </p:nvSpPr>
        <p:spPr>
          <a:xfrm>
            <a:off x="548640" y="5120640"/>
            <a:ext cx="11094415" cy="457200"/>
          </a:xfrm>
          <a:prstGeom prst="rect">
            <a:avLst/>
          </a:prstGeom>
          <a:noFill/>
        </p:spPr>
        <p:txBody>
          <a:bodyPr wrap="square" anchor="t" lIns="45720" rIns="45720" tIns="27432" bIns="27432">
            <a:spAutoFit/>
          </a:bodyPr>
          <a:lstStyle/>
          <a:p>
            <a:pPr algn="l"/>
            <a:r>
              <a:rPr sz="1600" b="0" i="0">
                <a:solidFill>
                  <a:srgbClr val="111111"/>
                </a:solidFill>
                <a:latin typeface="Calibri"/>
              </a:rPr>
              <a:t>Lead instructors: Mousa AL-Akhras, Mohammed Abdelmajeed</a:t>
            </a:r>
          </a:p>
        </p:txBody>
      </p:sp>
      <p:sp>
        <p:nvSpPr>
          <p:cNvPr id="7" name="TextBox 6"/>
          <p:cNvSpPr txBox="1"/>
          <p:nvPr/>
        </p:nvSpPr>
        <p:spPr>
          <a:xfrm>
            <a:off x="548640" y="5532120"/>
            <a:ext cx="11094415" cy="457200"/>
          </a:xfrm>
          <a:prstGeom prst="rect">
            <a:avLst/>
          </a:prstGeom>
          <a:noFill/>
        </p:spPr>
        <p:txBody>
          <a:bodyPr wrap="square" anchor="t" lIns="45720" rIns="45720" tIns="27432" bIns="27432">
            <a:spAutoFit/>
          </a:bodyPr>
          <a:lstStyle/>
          <a:p>
            <a:pPr algn="l"/>
            <a:r>
              <a:rPr sz="1300" b="0" i="0">
                <a:solidFill>
                  <a:srgbClr val="666666"/>
                </a:solidFill>
                <a:latin typeface="Calibri"/>
              </a:rPr>
              <a:t>120 minutes · Module online: albanna-tutorials.com/ai-administrator/03_workflow_mapping_current_state.html</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Where this session sits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ahoot_logo.png"/>
          <p:cNvPicPr>
            <a:picLocks noChangeAspect="1"/>
          </p:cNvPicPr>
          <p:nvPr/>
        </p:nvPicPr>
        <p:blipFill>
          <a:blip r:embed="rId2"/>
          <a:stretch>
            <a:fillRect/>
          </a:stretch>
        </p:blipFill>
        <p:spPr>
          <a:xfrm>
            <a:off x="9315522" y="274320"/>
            <a:ext cx="2277626" cy="777240"/>
          </a:xfrm>
          <a:prstGeom prst="rect">
            <a:avLst/>
          </a:prstGeom>
        </p:spPr>
      </p:pic>
      <p:sp>
        <p:nvSpPr>
          <p:cNvPr id="6" name="TextBox 5"/>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Day 1: what agents and automations are; prompting for operators; your task inventory</a:t>
            </a:r>
          </a:p>
          <a:p>
            <a:pPr>
              <a:spcAft>
                <a:spcPts val="1200"/>
              </a:spcAft>
            </a:pPr>
            <a:r>
              <a:rPr sz="2200">
                <a:solidFill>
                  <a:srgbClr val="111111"/>
                </a:solidFill>
                <a:latin typeface="Calibri"/>
              </a:rPr>
              <a:t>•  Day 2 (now): mapping. Session 3 the current state, Session 4 the future state</a:t>
            </a:r>
          </a:p>
          <a:p>
            <a:pPr>
              <a:spcAft>
                <a:spcPts val="1200"/>
              </a:spcAft>
            </a:pPr>
            <a:r>
              <a:rPr sz="2200">
                <a:solidFill>
                  <a:srgbClr val="111111"/>
                </a:solidFill>
                <a:latin typeface="Calibri"/>
              </a:rPr>
              <a:t>•  Day 3: first automations in n8n, built from the future-state map</a:t>
            </a:r>
          </a:p>
          <a:p>
            <a:pPr>
              <a:spcAft>
                <a:spcPts val="1200"/>
              </a:spcAft>
            </a:pPr>
            <a:r>
              <a:rPr sz="2200">
                <a:solidFill>
                  <a:srgbClr val="111111"/>
                </a:solidFill>
                <a:latin typeface="Calibri"/>
              </a:rPr>
              <a:t>•  Days 4 to 6: tools, agents, multi-agent, controls, security, monitoring · Days 7 and 8: capstone and exam</a:t>
            </a:r>
          </a:p>
          <a:p>
            <a:pPr>
              <a:spcAft>
                <a:spcPts val="1200"/>
              </a:spcAft>
            </a:pPr>
            <a:r>
              <a:rPr sz="2200">
                <a:solidFill>
                  <a:srgbClr val="111111"/>
                </a:solidFill>
                <a:latin typeface="Calibri"/>
              </a:rPr>
              <a:t>•  The process we use as the example today: annual-leave requests at AI Caravan Ltd. (the policy from Session 2)</a:t>
            </a:r>
          </a:p>
          <a:p>
            <a:pPr>
              <a:spcAft>
                <a:spcPts val="1200"/>
              </a:spcAft>
            </a:pPr>
            <a:r>
              <a:rPr sz="2200">
                <a:solidFill>
                  <a:srgbClr val="111111"/>
                </a:solidFill>
                <a:latin typeface="Calibri"/>
              </a:rPr>
              <a:t>•  At minute 105: a 20-question Kahoot on this session. Keep your phone handy.</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What you will be able to do after this session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ahoot_logo.png"/>
          <p:cNvPicPr>
            <a:picLocks noChangeAspect="1"/>
          </p:cNvPicPr>
          <p:nvPr/>
        </p:nvPicPr>
        <p:blipFill>
          <a:blip r:embed="rId2"/>
          <a:stretch>
            <a:fillRect/>
          </a:stretch>
        </p:blipFill>
        <p:spPr>
          <a:xfrm>
            <a:off x="9315522" y="274320"/>
            <a:ext cx="2277626" cy="777240"/>
          </a:xfrm>
          <a:prstGeom prst="rect">
            <a:avLst/>
          </a:prstGeom>
        </p:spPr>
      </p:pic>
      <p:sp>
        <p:nvSpPr>
          <p:cNvPr id="6" name="TextBox 5"/>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Explain why automating an unmapped process is risky</a:t>
            </a:r>
          </a:p>
          <a:p>
            <a:pPr>
              <a:spcAft>
                <a:spcPts val="1200"/>
              </a:spcAft>
            </a:pPr>
            <a:r>
              <a:rPr sz="2200">
                <a:solidFill>
                  <a:srgbClr val="111111"/>
                </a:solidFill>
                <a:latin typeface="Calibri"/>
              </a:rPr>
              <a:t>•  Write a SIPOC with a clear trigger and end state</a:t>
            </a:r>
          </a:p>
          <a:p>
            <a:pPr>
              <a:spcAft>
                <a:spcPts val="1200"/>
              </a:spcAft>
            </a:pPr>
            <a:r>
              <a:rPr sz="2200">
                <a:solidFill>
                  <a:srgbClr val="111111"/>
                </a:solidFill>
                <a:latin typeface="Calibri"/>
              </a:rPr>
              <a:t>•  Draw a swimlane map with actors, steps, decisions, hand-offs and waits</a:t>
            </a:r>
          </a:p>
          <a:p>
            <a:pPr>
              <a:spcAft>
                <a:spcPts val="1200"/>
              </a:spcAft>
            </a:pPr>
            <a:r>
              <a:rPr sz="2200">
                <a:solidFill>
                  <a:srgbClr val="111111"/>
                </a:solidFill>
                <a:latin typeface="Calibri"/>
              </a:rPr>
              <a:t>•  Put touch time and wait time on every step, and know which fix each needs</a:t>
            </a:r>
          </a:p>
          <a:p>
            <a:pPr>
              <a:spcAft>
                <a:spcPts val="1200"/>
              </a:spcAft>
            </a:pPr>
            <a:r>
              <a:rPr sz="2200">
                <a:solidFill>
                  <a:srgbClr val="111111"/>
                </a:solidFill>
                <a:latin typeface="Calibri"/>
              </a:rPr>
              <a:t>•  Tag pain points with seven course tags, and protect the JUDGE steps</a:t>
            </a:r>
          </a:p>
          <a:p>
            <a:pPr>
              <a:spcAft>
                <a:spcPts val="1200"/>
              </a:spcAft>
            </a:pPr>
            <a:r>
              <a:rPr sz="2200">
                <a:solidFill>
                  <a:srgbClr val="111111"/>
                </a:solidFill>
                <a:latin typeface="Calibri"/>
              </a:rPr>
              <a:t>•  Interview a colleague about a process without leading them</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Run of show (120 minutes)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423949">
                <a:tc>
                  <a:txBody>
                    <a:bodyPr/>
                    <a:lstStyle/>
                    <a:p>
                      <a:r>
                        <a:rPr b="1" sz="1200">
                          <a:solidFill>
                            <a:srgbClr val="111111"/>
                          </a:solidFill>
                          <a:latin typeface="Calibri"/>
                        </a:rPr>
                        <a:t>Minutes</a:t>
                      </a:r>
                    </a:p>
                  </a:txBody>
                  <a:tcPr>
                    <a:solidFill>
                      <a:srgbClr val="F2F2F2"/>
                    </a:solidFill>
                  </a:tcPr>
                </a:tc>
                <a:tc>
                  <a:txBody>
                    <a:bodyPr/>
                    <a:lstStyle/>
                    <a:p>
                      <a:r>
                        <a:rPr b="1" sz="1200">
                          <a:solidFill>
                            <a:srgbClr val="111111"/>
                          </a:solidFill>
                          <a:latin typeface="Calibri"/>
                        </a:rPr>
                        <a:t>Block</a:t>
                      </a:r>
                    </a:p>
                  </a:txBody>
                  <a:tcPr>
                    <a:solidFill>
                      <a:srgbClr val="F2F2F2"/>
                    </a:solidFill>
                  </a:tcPr>
                </a:tc>
                <a:tc>
                  <a:txBody>
                    <a:bodyPr/>
                    <a:lstStyle/>
                    <a:p>
                      <a:r>
                        <a:rPr b="1" sz="1200">
                          <a:solidFill>
                            <a:srgbClr val="111111"/>
                          </a:solidFill>
                          <a:latin typeface="Calibri"/>
                        </a:rPr>
                        <a:t>What happens</a:t>
                      </a:r>
                    </a:p>
                  </a:txBody>
                  <a:tcPr>
                    <a:solidFill>
                      <a:srgbClr val="F2F2F2"/>
                    </a:solidFill>
                  </a:tcPr>
                </a:tc>
              </a:tr>
              <a:tr h="423949">
                <a:tc>
                  <a:txBody>
                    <a:bodyPr/>
                    <a:lstStyle/>
                    <a:p>
                      <a:r>
                        <a:rPr sz="1200" b="0">
                          <a:solidFill>
                            <a:srgbClr val="111111"/>
                          </a:solidFill>
                          <a:latin typeface="Calibri"/>
                        </a:rPr>
                        <a:t>0 to 5</a:t>
                      </a:r>
                    </a:p>
                  </a:txBody>
                  <a:tcPr marT="45720" marB="45720">
                    <a:solidFill>
                      <a:srgbClr val="FFFFFF"/>
                    </a:solidFill>
                  </a:tcPr>
                </a:tc>
                <a:tc>
                  <a:txBody>
                    <a:bodyPr/>
                    <a:lstStyle/>
                    <a:p>
                      <a:r>
                        <a:rPr sz="1200" b="0">
                          <a:solidFill>
                            <a:srgbClr val="111111"/>
                          </a:solidFill>
                          <a:latin typeface="Calibri"/>
                        </a:rPr>
                        <a:t>Welcome</a:t>
                      </a:r>
                    </a:p>
                  </a:txBody>
                  <a:tcPr marT="45720" marB="45720">
                    <a:solidFill>
                      <a:srgbClr val="FFFFFF"/>
                    </a:solidFill>
                  </a:tcPr>
                </a:tc>
                <a:tc>
                  <a:txBody>
                    <a:bodyPr/>
                    <a:lstStyle/>
                    <a:p>
                      <a:r>
                        <a:rPr sz="1200" b="0">
                          <a:solidFill>
                            <a:srgbClr val="111111"/>
                          </a:solidFill>
                          <a:latin typeface="Calibri"/>
                        </a:rPr>
                        <a:t>Course map, objectives, the leave-request example</a:t>
                      </a:r>
                    </a:p>
                  </a:txBody>
                  <a:tcPr marT="45720" marB="45720">
                    <a:solidFill>
                      <a:srgbClr val="FFFFFF"/>
                    </a:solidFill>
                  </a:tcPr>
                </a:tc>
              </a:tr>
              <a:tr h="423949">
                <a:tc>
                  <a:txBody>
                    <a:bodyPr/>
                    <a:lstStyle/>
                    <a:p>
                      <a:r>
                        <a:rPr sz="1200" b="0">
                          <a:solidFill>
                            <a:srgbClr val="111111"/>
                          </a:solidFill>
                          <a:latin typeface="Calibri"/>
                        </a:rPr>
                        <a:t>5 to 15</a:t>
                      </a:r>
                    </a:p>
                  </a:txBody>
                  <a:tcPr marT="45720" marB="45720">
                    <a:solidFill>
                      <a:srgbClr val="FFFFFF"/>
                    </a:solidFill>
                  </a:tcPr>
                </a:tc>
                <a:tc>
                  <a:txBody>
                    <a:bodyPr/>
                    <a:lstStyle/>
                    <a:p>
                      <a:r>
                        <a:rPr sz="1200" b="0">
                          <a:solidFill>
                            <a:srgbClr val="111111"/>
                          </a:solidFill>
                          <a:latin typeface="Calibri"/>
                        </a:rPr>
                        <a:t>Why map before you automate</a:t>
                      </a:r>
                    </a:p>
                  </a:txBody>
                  <a:tcPr marT="45720" marB="45720">
                    <a:solidFill>
                      <a:srgbClr val="FFFFFF"/>
                    </a:solidFill>
                  </a:tcPr>
                </a:tc>
                <a:tc>
                  <a:txBody>
                    <a:bodyPr/>
                    <a:lstStyle/>
                    <a:p>
                      <a:r>
                        <a:rPr sz="1200" b="0">
                          <a:solidFill>
                            <a:srgbClr val="111111"/>
                          </a:solidFill>
                          <a:latin typeface="Calibri"/>
                        </a:rPr>
                        <a:t>Automation freezes workarounds; the stranger rule</a:t>
                      </a:r>
                    </a:p>
                  </a:txBody>
                  <a:tcPr marT="45720" marB="45720">
                    <a:solidFill>
                      <a:srgbClr val="FFFFFF"/>
                    </a:solidFill>
                  </a:tcPr>
                </a:tc>
              </a:tr>
              <a:tr h="423949">
                <a:tc>
                  <a:txBody>
                    <a:bodyPr/>
                    <a:lstStyle/>
                    <a:p>
                      <a:r>
                        <a:rPr sz="1200" b="0">
                          <a:solidFill>
                            <a:srgbClr val="111111"/>
                          </a:solidFill>
                          <a:latin typeface="Calibri"/>
                        </a:rPr>
                        <a:t>15 to 30</a:t>
                      </a:r>
                    </a:p>
                  </a:txBody>
                  <a:tcPr marT="45720" marB="45720">
                    <a:solidFill>
                      <a:srgbClr val="FFFFFF"/>
                    </a:solidFill>
                  </a:tcPr>
                </a:tc>
                <a:tc>
                  <a:txBody>
                    <a:bodyPr/>
                    <a:lstStyle/>
                    <a:p>
                      <a:r>
                        <a:rPr sz="1200" b="0">
                          <a:solidFill>
                            <a:srgbClr val="111111"/>
                          </a:solidFill>
                          <a:latin typeface="Calibri"/>
                        </a:rPr>
                        <a:t>SIPOC</a:t>
                      </a:r>
                    </a:p>
                  </a:txBody>
                  <a:tcPr marT="45720" marB="45720">
                    <a:solidFill>
                      <a:srgbClr val="FFFFFF"/>
                    </a:solidFill>
                  </a:tcPr>
                </a:tc>
                <a:tc>
                  <a:txBody>
                    <a:bodyPr/>
                    <a:lstStyle/>
                    <a:p>
                      <a:r>
                        <a:rPr sz="1200" b="0">
                          <a:solidFill>
                            <a:srgbClr val="111111"/>
                          </a:solidFill>
                          <a:latin typeface="Calibri"/>
                        </a:rPr>
                        <a:t>Boundaries, trigger, end state; five-minute breakout exercise</a:t>
                      </a:r>
                    </a:p>
                  </a:txBody>
                  <a:tcPr marT="45720" marB="45720">
                    <a:solidFill>
                      <a:srgbClr val="FFFFFF"/>
                    </a:solidFill>
                  </a:tcPr>
                </a:tc>
              </a:tr>
              <a:tr h="423949">
                <a:tc>
                  <a:txBody>
                    <a:bodyPr/>
                    <a:lstStyle/>
                    <a:p>
                      <a:r>
                        <a:rPr sz="1200" b="0">
                          <a:solidFill>
                            <a:srgbClr val="111111"/>
                          </a:solidFill>
                          <a:latin typeface="Calibri"/>
                        </a:rPr>
                        <a:t>30 to 55</a:t>
                      </a:r>
                    </a:p>
                  </a:txBody>
                  <a:tcPr marT="45720" marB="45720">
                    <a:solidFill>
                      <a:srgbClr val="FFFFFF"/>
                    </a:solidFill>
                  </a:tcPr>
                </a:tc>
                <a:tc>
                  <a:txBody>
                    <a:bodyPr/>
                    <a:lstStyle/>
                    <a:p>
                      <a:r>
                        <a:rPr sz="1200" b="0">
                          <a:solidFill>
                            <a:srgbClr val="111111"/>
                          </a:solidFill>
                          <a:latin typeface="Calibri"/>
                        </a:rPr>
                        <a:t>Swimlanes</a:t>
                      </a:r>
                    </a:p>
                  </a:txBody>
                  <a:tcPr marT="45720" marB="45720">
                    <a:solidFill>
                      <a:srgbClr val="FFFFFF"/>
                    </a:solidFill>
                  </a:tcPr>
                </a:tc>
                <a:tc>
                  <a:txBody>
                    <a:bodyPr/>
                    <a:lstStyle/>
                    <a:p>
                      <a:r>
                        <a:rPr sz="1200" b="0">
                          <a:solidFill>
                            <a:srgbClr val="111111"/>
                          </a:solidFill>
                          <a:latin typeface="Calibri"/>
                        </a:rPr>
                        <a:t>Notation; live draw.io demo; touch time versus wait time</a:t>
                      </a:r>
                    </a:p>
                  </a:txBody>
                  <a:tcPr marT="45720" marB="45720">
                    <a:solidFill>
                      <a:srgbClr val="FFFFFF"/>
                    </a:solidFill>
                  </a:tcPr>
                </a:tc>
              </a:tr>
              <a:tr h="423949">
                <a:tc>
                  <a:txBody>
                    <a:bodyPr/>
                    <a:lstStyle/>
                    <a:p>
                      <a:r>
                        <a:rPr sz="1200" b="0">
                          <a:solidFill>
                            <a:srgbClr val="111111"/>
                          </a:solidFill>
                          <a:latin typeface="Calibri"/>
                        </a:rPr>
                        <a:t>55 to 65</a:t>
                      </a:r>
                    </a:p>
                  </a:txBody>
                  <a:tcPr marT="45720" marB="45720">
                    <a:solidFill>
                      <a:srgbClr val="FFFFFF"/>
                    </a:solidFill>
                  </a:tcPr>
                </a:tc>
                <a:tc>
                  <a:txBody>
                    <a:bodyPr/>
                    <a:lstStyle/>
                    <a:p>
                      <a:r>
                        <a:rPr sz="1200" b="0">
                          <a:solidFill>
                            <a:srgbClr val="111111"/>
                          </a:solidFill>
                          <a:latin typeface="Calibri"/>
                        </a:rPr>
                        <a:t>Break</a:t>
                      </a:r>
                    </a:p>
                  </a:txBody>
                  <a:tcPr marT="45720" marB="45720">
                    <a:solidFill>
                      <a:srgbClr val="FFFFFF"/>
                    </a:solidFill>
                  </a:tcPr>
                </a:tc>
                <a:tc>
                  <a:txBody>
                    <a:bodyPr/>
                    <a:lstStyle/>
                    <a:p/>
                  </a:txBody>
                  <a:tcPr marT="45720" marB="45720">
                    <a:solidFill>
                      <a:srgbClr val="FFFFFF"/>
                    </a:solidFill>
                  </a:tcPr>
                </a:tc>
              </a:tr>
              <a:tr h="423949">
                <a:tc>
                  <a:txBody>
                    <a:bodyPr/>
                    <a:lstStyle/>
                    <a:p>
                      <a:r>
                        <a:rPr sz="1200" b="0">
                          <a:solidFill>
                            <a:srgbClr val="111111"/>
                          </a:solidFill>
                          <a:latin typeface="Calibri"/>
                        </a:rPr>
                        <a:t>65 to 80</a:t>
                      </a:r>
                    </a:p>
                  </a:txBody>
                  <a:tcPr marT="45720" marB="45720">
                    <a:solidFill>
                      <a:srgbClr val="FFFFFF"/>
                    </a:solidFill>
                  </a:tcPr>
                </a:tc>
                <a:tc>
                  <a:txBody>
                    <a:bodyPr/>
                    <a:lstStyle/>
                    <a:p>
                      <a:r>
                        <a:rPr sz="1200" b="0">
                          <a:solidFill>
                            <a:srgbClr val="111111"/>
                          </a:solidFill>
                          <a:latin typeface="Calibri"/>
                        </a:rPr>
                        <a:t>Pain-point tags</a:t>
                      </a:r>
                    </a:p>
                  </a:txBody>
                  <a:tcPr marT="45720" marB="45720">
                    <a:solidFill>
                      <a:srgbClr val="FFFFFF"/>
                    </a:solidFill>
                  </a:tcPr>
                </a:tc>
                <a:tc>
                  <a:txBody>
                    <a:bodyPr/>
                    <a:lstStyle/>
                    <a:p>
                      <a:r>
                        <a:rPr sz="1200" b="0">
                          <a:solidFill>
                            <a:srgbClr val="111111"/>
                          </a:solidFill>
                          <a:latin typeface="Calibri"/>
                        </a:rPr>
                        <a:t>Seven tags on the example; JUDGE is protected</a:t>
                      </a:r>
                    </a:p>
                  </a:txBody>
                  <a:tcPr marT="45720" marB="45720">
                    <a:solidFill>
                      <a:srgbClr val="FFFFFF"/>
                    </a:solidFill>
                  </a:tcPr>
                </a:tc>
              </a:tr>
              <a:tr h="423949">
                <a:tc>
                  <a:txBody>
                    <a:bodyPr/>
                    <a:lstStyle/>
                    <a:p>
                      <a:r>
                        <a:rPr sz="1200" b="0">
                          <a:solidFill>
                            <a:srgbClr val="111111"/>
                          </a:solidFill>
                          <a:latin typeface="Calibri"/>
                        </a:rPr>
                        <a:t>80 to 90</a:t>
                      </a:r>
                    </a:p>
                  </a:txBody>
                  <a:tcPr marT="45720" marB="45720">
                    <a:solidFill>
                      <a:srgbClr val="FFFFFF"/>
                    </a:solidFill>
                  </a:tcPr>
                </a:tc>
                <a:tc>
                  <a:txBody>
                    <a:bodyPr/>
                    <a:lstStyle/>
                    <a:p>
                      <a:r>
                        <a:rPr sz="1200" b="0">
                          <a:solidFill>
                            <a:srgbClr val="111111"/>
                          </a:solidFill>
                          <a:latin typeface="Calibri"/>
                        </a:rPr>
                        <a:t>Mapping interviews</a:t>
                      </a:r>
                    </a:p>
                  </a:txBody>
                  <a:tcPr marT="45720" marB="45720">
                    <a:solidFill>
                      <a:srgbClr val="FFFFFF"/>
                    </a:solidFill>
                  </a:tcPr>
                </a:tc>
                <a:tc>
                  <a:txBody>
                    <a:bodyPr/>
                    <a:lstStyle/>
                    <a:p>
                      <a:r>
                        <a:rPr sz="1200" b="0">
                          <a:solidFill>
                            <a:srgbClr val="111111"/>
                          </a:solidFill>
                          <a:latin typeface="Calibri"/>
                        </a:rPr>
                        <a:t>Five openers, rules, a role-play with one leading question</a:t>
                      </a:r>
                    </a:p>
                  </a:txBody>
                  <a:tcPr marT="45720" marB="45720">
                    <a:solidFill>
                      <a:srgbClr val="FFFFFF"/>
                    </a:solidFill>
                  </a:tcPr>
                </a:tc>
              </a:tr>
              <a:tr h="423949">
                <a:tc>
                  <a:txBody>
                    <a:bodyPr/>
                    <a:lstStyle/>
                    <a:p>
                      <a:r>
                        <a:rPr sz="1200" b="0">
                          <a:solidFill>
                            <a:srgbClr val="111111"/>
                          </a:solidFill>
                          <a:latin typeface="Calibri"/>
                        </a:rPr>
                        <a:t>90 to 105</a:t>
                      </a:r>
                    </a:p>
                  </a:txBody>
                  <a:tcPr marT="45720" marB="45720">
                    <a:solidFill>
                      <a:srgbClr val="FFFFFF"/>
                    </a:solidFill>
                  </a:tcPr>
                </a:tc>
                <a:tc>
                  <a:txBody>
                    <a:bodyPr/>
                    <a:lstStyle/>
                    <a:p>
                      <a:r>
                        <a:rPr sz="1200" b="0">
                          <a:solidFill>
                            <a:srgbClr val="111111"/>
                          </a:solidFill>
                          <a:latin typeface="Calibri"/>
                        </a:rPr>
                        <a:t>Practical: live map reviewer</a:t>
                      </a:r>
                    </a:p>
                  </a:txBody>
                  <a:tcPr marT="45720" marB="45720">
                    <a:solidFill>
                      <a:srgbClr val="FFFFFF"/>
                    </a:solidFill>
                  </a:tcPr>
                </a:tc>
                <a:tc>
                  <a:txBody>
                    <a:bodyPr/>
                    <a:lstStyle/>
                    <a:p>
                      <a:r>
                        <a:rPr sz="1200" b="0">
                          <a:solidFill>
                            <a:srgbClr val="111111"/>
                          </a:solidFill>
                          <a:latin typeface="Calibri"/>
                        </a:rPr>
                        <a:t>Send a step list to the reviewer bot; debrief</a:t>
                      </a:r>
                    </a:p>
                  </a:txBody>
                  <a:tcPr marT="45720" marB="45720">
                    <a:solidFill>
                      <a:srgbClr val="FFFFFF"/>
                    </a:solidFill>
                  </a:tcPr>
                </a:tc>
              </a:tr>
              <a:tr h="423949">
                <a:tc>
                  <a:txBody>
                    <a:bodyPr/>
                    <a:lstStyle/>
                    <a:p>
                      <a:r>
                        <a:rPr sz="1200" b="0">
                          <a:solidFill>
                            <a:srgbClr val="111111"/>
                          </a:solidFill>
                          <a:latin typeface="Calibri"/>
                        </a:rPr>
                        <a:t>105 to 115</a:t>
                      </a:r>
                    </a:p>
                  </a:txBody>
                  <a:tcPr marT="45720" marB="45720">
                    <a:solidFill>
                      <a:srgbClr val="FFFFFF"/>
                    </a:solidFill>
                  </a:tcPr>
                </a:tc>
                <a:tc>
                  <a:txBody>
                    <a:bodyPr/>
                    <a:lstStyle/>
                    <a:p>
                      <a:r>
                        <a:rPr sz="1200" b="0">
                          <a:solidFill>
                            <a:srgbClr val="111111"/>
                          </a:solidFill>
                          <a:latin typeface="Calibri"/>
                        </a:rPr>
                        <a:t>Kahoot</a:t>
                      </a:r>
                    </a:p>
                  </a:txBody>
                  <a:tcPr marT="45720" marB="45720">
                    <a:solidFill>
                      <a:srgbClr val="FFFFFF"/>
                    </a:solidFill>
                  </a:tcPr>
                </a:tc>
                <a:tc>
                  <a:txBody>
                    <a:bodyPr/>
                    <a:lstStyle/>
                    <a:p>
                      <a:r>
                        <a:rPr sz="1200" b="0">
                          <a:solidFill>
                            <a:srgbClr val="111111"/>
                          </a:solidFill>
                          <a:latin typeface="Calibri"/>
                        </a:rPr>
                        <a:t>20 questions</a:t>
                      </a:r>
                    </a:p>
                  </a:txBody>
                  <a:tcPr marT="45720" marB="45720">
                    <a:solidFill>
                      <a:srgbClr val="FFFFFF"/>
                    </a:solidFill>
                  </a:tcPr>
                </a:tc>
              </a:tr>
              <a:tr h="423950">
                <a:tc>
                  <a:txBody>
                    <a:bodyPr/>
                    <a:lstStyle/>
                    <a:p>
                      <a:r>
                        <a:rPr sz="1200" b="0">
                          <a:solidFill>
                            <a:srgbClr val="111111"/>
                          </a:solidFill>
                          <a:latin typeface="Calibri"/>
                        </a:rPr>
                        <a:t>115 to 120</a:t>
                      </a:r>
                    </a:p>
                  </a:txBody>
                  <a:tcPr marT="45720" marB="45720">
                    <a:solidFill>
                      <a:srgbClr val="FFFFFF"/>
                    </a:solidFill>
                  </a:tcPr>
                </a:tc>
                <a:tc>
                  <a:txBody>
                    <a:bodyPr/>
                    <a:lstStyle/>
                    <a:p>
                      <a:r>
                        <a:rPr sz="1200" b="0">
                          <a:solidFill>
                            <a:srgbClr val="111111"/>
                          </a:solidFill>
                          <a:latin typeface="Calibri"/>
                        </a:rPr>
                        <a:t>Lab kickoff and wrap</a:t>
                      </a:r>
                    </a:p>
                  </a:txBody>
                  <a:tcPr marT="45720" marB="45720">
                    <a:solidFill>
                      <a:srgbClr val="FFFFFF"/>
                    </a:solidFill>
                  </a:tcPr>
                </a:tc>
                <a:tc>
                  <a:txBody>
                    <a:bodyPr/>
                    <a:lstStyle/>
                    <a:p>
                      <a:r>
                        <a:rPr sz="1200" b="0">
                          <a:solidFill>
                            <a:srgbClr val="111111"/>
                          </a:solidFill>
                          <a:latin typeface="Calibri"/>
                        </a:rPr>
                        <a:t>Map your own task; due before Session 4</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1. Why map before you automate</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Automation makes a process rigid. Look at it before you freeze it.</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most common automation failure is not technical</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6_automation.jpg"/>
          <p:cNvPicPr>
            <a:picLocks noChangeAspect="1"/>
          </p:cNvPicPr>
          <p:nvPr/>
        </p:nvPicPr>
        <p:blipFill>
          <a:blip r:embed="rId2"/>
          <a:stretch>
            <a:fillRect/>
          </a:stretch>
        </p:blipFill>
        <p:spPr>
          <a:xfrm>
            <a:off x="548640" y="1301610"/>
            <a:ext cx="6949440" cy="4620539"/>
          </a:xfrm>
          <a:prstGeom prst="rect">
            <a:avLst/>
          </a:prstGeom>
        </p:spPr>
      </p:pic>
      <p:sp>
        <p:nvSpPr>
          <p:cNvPr id="6" name="TextBox 5"/>
          <p:cNvSpPr txBox="1"/>
          <p:nvPr/>
        </p:nvSpPr>
        <p:spPr>
          <a:xfrm>
            <a:off x="7863840" y="1417320"/>
            <a:ext cx="3779215" cy="4663440"/>
          </a:xfrm>
          <a:prstGeom prst="rect">
            <a:avLst/>
          </a:prstGeom>
          <a:noFill/>
        </p:spPr>
        <p:txBody>
          <a:bodyPr wrap="square" lIns="45720" rIns="45720">
            <a:spAutoFit/>
          </a:bodyPr>
          <a:lstStyle/>
          <a:p>
            <a:pPr>
              <a:spcAft>
                <a:spcPts val="1000"/>
              </a:spcAft>
            </a:pPr>
            <a:r>
              <a:rPr sz="1800">
                <a:solidFill>
                  <a:srgbClr val="111111"/>
                </a:solidFill>
                <a:latin typeface="Calibri"/>
              </a:rPr>
              <a:t>•  It is automating the process as one person thinks it works</a:t>
            </a:r>
          </a:p>
          <a:p>
            <a:pPr>
              <a:spcAft>
                <a:spcPts val="1000"/>
              </a:spcAft>
            </a:pPr>
            <a:r>
              <a:rPr sz="1800">
                <a:solidFill>
                  <a:srgbClr val="111111"/>
                </a:solidFill>
                <a:latin typeface="Calibri"/>
              </a:rPr>
              <a:t>•  Then discovering the exceptions three other people quietly handle every week</a:t>
            </a:r>
          </a:p>
          <a:p>
            <a:pPr>
              <a:spcAft>
                <a:spcPts val="1000"/>
              </a:spcAft>
            </a:pPr>
            <a:r>
              <a:rPr sz="1800">
                <a:solidFill>
                  <a:srgbClr val="111111"/>
                </a:solidFill>
                <a:latin typeface="Calibri"/>
              </a:rPr>
              <a:t>•  Robots on a car line only work because every step was mapped first</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Photo: Mixabest, Wikimedia Commons, CC BY-SA 3.0</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process people describe, and the one that runs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2s3_freeze.png"/>
          <p:cNvPicPr>
            <a:picLocks noChangeAspect="1"/>
          </p:cNvPicPr>
          <p:nvPr/>
        </p:nvPicPr>
        <p:blipFill>
          <a:blip r:embed="rId2"/>
          <a:stretch>
            <a:fillRect/>
          </a:stretch>
        </p:blipFill>
        <p:spPr>
          <a:xfrm>
            <a:off x="1062960" y="1280160"/>
            <a:ext cx="10065774"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Ask a manager and you hear three portal steps. Watch the work and you see email, a private team sheet and a chase to HR.</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Mapping is cheap, and often fixes a third of the problem</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8_sticky.jpg"/>
          <p:cNvPicPr>
            <a:picLocks noChangeAspect="1"/>
          </p:cNvPicPr>
          <p:nvPr/>
        </p:nvPicPr>
        <p:blipFill>
          <a:blip r:embed="rId2"/>
          <a:stretch>
            <a:fillRect/>
          </a:stretch>
        </p:blipFill>
        <p:spPr>
          <a:xfrm>
            <a:off x="1021951" y="1280160"/>
            <a:ext cx="6002818" cy="4663440"/>
          </a:xfrm>
          <a:prstGeom prst="rect">
            <a:avLst/>
          </a:prstGeom>
        </p:spPr>
      </p:pic>
      <p:sp>
        <p:nvSpPr>
          <p:cNvPr id="6" name="TextBox 5"/>
          <p:cNvSpPr txBox="1"/>
          <p:nvPr/>
        </p:nvSpPr>
        <p:spPr>
          <a:xfrm>
            <a:off x="7863840" y="1417320"/>
            <a:ext cx="3779215" cy="4663440"/>
          </a:xfrm>
          <a:prstGeom prst="rect">
            <a:avLst/>
          </a:prstGeom>
          <a:noFill/>
        </p:spPr>
        <p:txBody>
          <a:bodyPr wrap="square" lIns="45720" rIns="45720">
            <a:spAutoFit/>
          </a:bodyPr>
          <a:lstStyle/>
          <a:p>
            <a:pPr>
              <a:spcAft>
                <a:spcPts val="1000"/>
              </a:spcAft>
            </a:pPr>
            <a:r>
              <a:rPr sz="1800">
                <a:solidFill>
                  <a:srgbClr val="111111"/>
                </a:solidFill>
                <a:latin typeface="Calibri"/>
              </a:rPr>
              <a:t>•  Two hours with a whiteboard or draw.io</a:t>
            </a:r>
          </a:p>
          <a:p>
            <a:pPr>
              <a:spcAft>
                <a:spcPts val="1000"/>
              </a:spcAft>
            </a:pPr>
            <a:r>
              <a:rPr sz="1800">
                <a:solidFill>
                  <a:srgbClr val="111111"/>
                </a:solidFill>
                <a:latin typeface="Calibri"/>
              </a:rPr>
              <a:t>•  It reveals duplicated data entry, approvals nobody reads, and days of waiting for minutes of work</a:t>
            </a:r>
          </a:p>
          <a:p>
            <a:pPr>
              <a:spcAft>
                <a:spcPts val="1000"/>
              </a:spcAft>
            </a:pPr>
            <a:r>
              <a:rPr sz="1800">
                <a:solidFill>
                  <a:srgbClr val="111111"/>
                </a:solidFill>
                <a:latin typeface="Calibri"/>
              </a:rPr>
              <a:t>•  Many of those are fixed by a conversation, before any tool is involved</a:t>
            </a:r>
          </a:p>
          <a:p>
            <a:pPr>
              <a:spcAft>
                <a:spcPts val="1000"/>
              </a:spcAft>
            </a:pPr>
            <a:r>
              <a:rPr sz="1800">
                <a:solidFill>
                  <a:srgbClr val="111111"/>
                </a:solidFill>
                <a:latin typeface="Calibri"/>
              </a:rPr>
              <a:t>•  What is left is a clear, honest specification for the automation</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Photo: Adrian Grycuk, Wikimedia Commons, CC BY-SA 3.0 PL</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rule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You may only automate a step you can describe precisely enough that a stranger could do it from your description. Mapping is how you find out which steps those are.</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2. Start wide: the SIPOC</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Fix the boundaries before you draw a single step</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SIPOC: five questions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777240">
                <a:tc>
                  <a:txBody>
                    <a:bodyPr/>
                    <a:lstStyle/>
                    <a:p>
                      <a:r>
                        <a:rPr b="1" sz="1500">
                          <a:solidFill>
                            <a:srgbClr val="111111"/>
                          </a:solidFill>
                          <a:latin typeface="Calibri"/>
                        </a:rPr>
                        <a:t>Letter</a:t>
                      </a:r>
                    </a:p>
                  </a:txBody>
                  <a:tcPr>
                    <a:solidFill>
                      <a:srgbClr val="F2F2F2"/>
                    </a:solidFill>
                  </a:tcPr>
                </a:tc>
                <a:tc>
                  <a:txBody>
                    <a:bodyPr/>
                    <a:lstStyle/>
                    <a:p>
                      <a:r>
                        <a:rPr b="1" sz="1500">
                          <a:solidFill>
                            <a:srgbClr val="111111"/>
                          </a:solidFill>
                          <a:latin typeface="Calibri"/>
                        </a:rPr>
                        <a:t>Question</a:t>
                      </a:r>
                    </a:p>
                  </a:txBody>
                  <a:tcPr>
                    <a:solidFill>
                      <a:srgbClr val="F2F2F2"/>
                    </a:solidFill>
                  </a:tcPr>
                </a:tc>
                <a:tc>
                  <a:txBody>
                    <a:bodyPr/>
                    <a:lstStyle/>
                    <a:p>
                      <a:r>
                        <a:rPr b="1" sz="1500">
                          <a:solidFill>
                            <a:srgbClr val="111111"/>
                          </a:solidFill>
                          <a:latin typeface="Calibri"/>
                        </a:rPr>
                        <a:t>Leave requests</a:t>
                      </a:r>
                    </a:p>
                  </a:txBody>
                  <a:tcPr>
                    <a:solidFill>
                      <a:srgbClr val="F2F2F2"/>
                    </a:solidFill>
                  </a:tcPr>
                </a:tc>
              </a:tr>
              <a:tr h="777240">
                <a:tc>
                  <a:txBody>
                    <a:bodyPr/>
                    <a:lstStyle/>
                    <a:p>
                      <a:r>
                        <a:rPr sz="1500" b="0">
                          <a:solidFill>
                            <a:srgbClr val="111111"/>
                          </a:solidFill>
                          <a:latin typeface="Calibri"/>
                        </a:rPr>
                        <a:t>S · Suppliers</a:t>
                      </a:r>
                    </a:p>
                  </a:txBody>
                  <a:tcPr marT="45720" marB="45720">
                    <a:solidFill>
                      <a:srgbClr val="FFFFFF"/>
                    </a:solidFill>
                  </a:tcPr>
                </a:tc>
                <a:tc>
                  <a:txBody>
                    <a:bodyPr/>
                    <a:lstStyle/>
                    <a:p>
                      <a:r>
                        <a:rPr sz="1500" b="0">
                          <a:solidFill>
                            <a:srgbClr val="111111"/>
                          </a:solidFill>
                          <a:latin typeface="Calibri"/>
                        </a:rPr>
                        <a:t>Who provides the inputs?</a:t>
                      </a:r>
                    </a:p>
                  </a:txBody>
                  <a:tcPr marT="45720" marB="45720">
                    <a:solidFill>
                      <a:srgbClr val="FFFFFF"/>
                    </a:solidFill>
                  </a:tcPr>
                </a:tc>
                <a:tc>
                  <a:txBody>
                    <a:bodyPr/>
                    <a:lstStyle/>
                    <a:p>
                      <a:r>
                        <a:rPr sz="1500" b="0">
                          <a:solidFill>
                            <a:srgbClr val="111111"/>
                          </a:solidFill>
                          <a:latin typeface="Calibri"/>
                        </a:rPr>
                        <a:t>Employees, line managers, HR coordinator, HR portal</a:t>
                      </a:r>
                    </a:p>
                  </a:txBody>
                  <a:tcPr marT="45720" marB="45720">
                    <a:solidFill>
                      <a:srgbClr val="FFFFFF"/>
                    </a:solidFill>
                  </a:tcPr>
                </a:tc>
              </a:tr>
              <a:tr h="777240">
                <a:tc>
                  <a:txBody>
                    <a:bodyPr/>
                    <a:lstStyle/>
                    <a:p>
                      <a:r>
                        <a:rPr sz="1500" b="0">
                          <a:solidFill>
                            <a:srgbClr val="111111"/>
                          </a:solidFill>
                          <a:latin typeface="Calibri"/>
                        </a:rPr>
                        <a:t>I · Inputs</a:t>
                      </a:r>
                    </a:p>
                  </a:txBody>
                  <a:tcPr marT="45720" marB="45720">
                    <a:solidFill>
                      <a:srgbClr val="FFFFFF"/>
                    </a:solidFill>
                  </a:tcPr>
                </a:tc>
                <a:tc>
                  <a:txBody>
                    <a:bodyPr/>
                    <a:lstStyle/>
                    <a:p>
                      <a:r>
                        <a:rPr sz="1500" b="0">
                          <a:solidFill>
                            <a:srgbClr val="111111"/>
                          </a:solidFill>
                          <a:latin typeface="Calibri"/>
                        </a:rPr>
                        <a:t>What arrives to start or feed the process?</a:t>
                      </a:r>
                    </a:p>
                  </a:txBody>
                  <a:tcPr marT="45720" marB="45720">
                    <a:solidFill>
                      <a:srgbClr val="FFFFFF"/>
                    </a:solidFill>
                  </a:tcPr>
                </a:tc>
                <a:tc>
                  <a:txBody>
                    <a:bodyPr/>
                    <a:lstStyle/>
                    <a:p>
                      <a:r>
                        <a:rPr sz="1500" b="0">
                          <a:solidFill>
                            <a:srgbClr val="111111"/>
                          </a:solidFill>
                          <a:latin typeface="Calibri"/>
                        </a:rPr>
                        <a:t>Leave request, balance, team calendar, policy HR-POL-02</a:t>
                      </a:r>
                    </a:p>
                  </a:txBody>
                  <a:tcPr marT="45720" marB="45720">
                    <a:solidFill>
                      <a:srgbClr val="FFFFFF"/>
                    </a:solidFill>
                  </a:tcPr>
                </a:tc>
              </a:tr>
              <a:tr h="777240">
                <a:tc>
                  <a:txBody>
                    <a:bodyPr/>
                    <a:lstStyle/>
                    <a:p>
                      <a:r>
                        <a:rPr sz="1500" b="0">
                          <a:solidFill>
                            <a:srgbClr val="111111"/>
                          </a:solidFill>
                          <a:latin typeface="Calibri"/>
                        </a:rPr>
                        <a:t>P · Process</a:t>
                      </a:r>
                    </a:p>
                  </a:txBody>
                  <a:tcPr marT="45720" marB="45720">
                    <a:solidFill>
                      <a:srgbClr val="FFFFFF"/>
                    </a:solidFill>
                  </a:tcPr>
                </a:tc>
                <a:tc>
                  <a:txBody>
                    <a:bodyPr/>
                    <a:lstStyle/>
                    <a:p>
                      <a:r>
                        <a:rPr sz="1500" b="0">
                          <a:solidFill>
                            <a:srgbClr val="111111"/>
                          </a:solidFill>
                          <a:latin typeface="Calibri"/>
                        </a:rPr>
                        <a:t>The five to seven biggest steps, no detail yet</a:t>
                      </a:r>
                    </a:p>
                  </a:txBody>
                  <a:tcPr marT="45720" marB="45720">
                    <a:solidFill>
                      <a:srgbClr val="FFFFFF"/>
                    </a:solidFill>
                  </a:tcPr>
                </a:tc>
                <a:tc>
                  <a:txBody>
                    <a:bodyPr/>
                    <a:lstStyle/>
                    <a:p>
                      <a:r>
                        <a:rPr sz="1500" b="0">
                          <a:solidFill>
                            <a:srgbClr val="111111"/>
                          </a:solidFill>
                          <a:latin typeface="Calibri"/>
                        </a:rPr>
                        <a:t>Request, check, decide, record, confirm</a:t>
                      </a:r>
                    </a:p>
                  </a:txBody>
                  <a:tcPr marT="45720" marB="45720">
                    <a:solidFill>
                      <a:srgbClr val="FFFFFF"/>
                    </a:solidFill>
                  </a:tcPr>
                </a:tc>
              </a:tr>
              <a:tr h="777240">
                <a:tc>
                  <a:txBody>
                    <a:bodyPr/>
                    <a:lstStyle/>
                    <a:p>
                      <a:r>
                        <a:rPr sz="1500" b="0">
                          <a:solidFill>
                            <a:srgbClr val="111111"/>
                          </a:solidFill>
                          <a:latin typeface="Calibri"/>
                        </a:rPr>
                        <a:t>O · Outputs</a:t>
                      </a:r>
                    </a:p>
                  </a:txBody>
                  <a:tcPr marT="45720" marB="45720">
                    <a:solidFill>
                      <a:srgbClr val="FFFFFF"/>
                    </a:solidFill>
                  </a:tcPr>
                </a:tc>
                <a:tc>
                  <a:txBody>
                    <a:bodyPr/>
                    <a:lstStyle/>
                    <a:p>
                      <a:r>
                        <a:rPr sz="1500" b="0">
                          <a:solidFill>
                            <a:srgbClr val="111111"/>
                          </a:solidFill>
                          <a:latin typeface="Calibri"/>
                        </a:rPr>
                        <a:t>What leaves the process?</a:t>
                      </a:r>
                    </a:p>
                  </a:txBody>
                  <a:tcPr marT="45720" marB="45720">
                    <a:solidFill>
                      <a:srgbClr val="FFFFFF"/>
                    </a:solidFill>
                  </a:tcPr>
                </a:tc>
                <a:tc>
                  <a:txBody>
                    <a:bodyPr/>
                    <a:lstStyle/>
                    <a:p>
                      <a:r>
                        <a:rPr sz="1500" b="0">
                          <a:solidFill>
                            <a:srgbClr val="111111"/>
                          </a:solidFill>
                          <a:latin typeface="Calibri"/>
                        </a:rPr>
                        <a:t>Decision, updated balance, updated calendar</a:t>
                      </a:r>
                    </a:p>
                  </a:txBody>
                  <a:tcPr marT="45720" marB="45720">
                    <a:solidFill>
                      <a:srgbClr val="FFFFFF"/>
                    </a:solidFill>
                  </a:tcPr>
                </a:tc>
              </a:tr>
              <a:tr h="777240">
                <a:tc>
                  <a:txBody>
                    <a:bodyPr/>
                    <a:lstStyle/>
                    <a:p>
                      <a:r>
                        <a:rPr sz="1500" b="0">
                          <a:solidFill>
                            <a:srgbClr val="111111"/>
                          </a:solidFill>
                          <a:latin typeface="Calibri"/>
                        </a:rPr>
                        <a:t>C · Customers</a:t>
                      </a:r>
                    </a:p>
                  </a:txBody>
                  <a:tcPr marT="45720" marB="45720">
                    <a:solidFill>
                      <a:srgbClr val="FFFFFF"/>
                    </a:solidFill>
                  </a:tcPr>
                </a:tc>
                <a:tc>
                  <a:txBody>
                    <a:bodyPr/>
                    <a:lstStyle/>
                    <a:p>
                      <a:r>
                        <a:rPr sz="1500" b="0">
                          <a:solidFill>
                            <a:srgbClr val="111111"/>
                          </a:solidFill>
                          <a:latin typeface="Calibri"/>
                        </a:rPr>
                        <a:t>Who receives the outputs?</a:t>
                      </a:r>
                    </a:p>
                  </a:txBody>
                  <a:tcPr marT="45720" marB="45720">
                    <a:solidFill>
                      <a:srgbClr val="FFFFFF"/>
                    </a:solidFill>
                  </a:tcPr>
                </a:tc>
                <a:tc>
                  <a:txBody>
                    <a:bodyPr/>
                    <a:lstStyle/>
                    <a:p>
                      <a:r>
                        <a:rPr sz="1500" b="0">
                          <a:solidFill>
                            <a:srgbClr val="111111"/>
                          </a:solidFill>
                          <a:latin typeface="Calibri"/>
                        </a:rPr>
                        <a:t>Employee, team, payroll</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leave-request SIPOC</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2s3_sipoc.png"/>
          <p:cNvPicPr>
            <a:picLocks noChangeAspect="1"/>
          </p:cNvPicPr>
          <p:nvPr/>
        </p:nvPicPr>
        <p:blipFill>
          <a:blip r:embed="rId2"/>
          <a:stretch>
            <a:fillRect/>
          </a:stretch>
        </p:blipFill>
        <p:spPr>
          <a:xfrm>
            <a:off x="1220238" y="1280160"/>
            <a:ext cx="9751218"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Trigger and end state sit above the table. Without a clear trigger there is nothing for an automation to listen for.</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Breakout exercise (5 minutes): SIPOC for ordering office supplies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Breakout rooms of two or three</a:t>
            </a:r>
          </a:p>
        </p:txBody>
      </p:sp>
      <p:sp>
        <p:nvSpPr>
          <p:cNvPr id="7" name="TextBox 6"/>
          <p:cNvSpPr txBox="1"/>
          <p:nvPr/>
        </p:nvSpPr>
        <p:spPr>
          <a:xfrm>
            <a:off x="1097280" y="173736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Zoom breakout rooms. One person shares screen with a blank doc or sheet, five columns.</a:t>
            </a:r>
          </a:p>
        </p:txBody>
      </p:sp>
      <p:sp>
        <p:nvSpPr>
          <p:cNvPr id="8" name="Rectangle 7"/>
          <p:cNvSpPr/>
          <p:nvPr/>
        </p:nvSpPr>
        <p:spPr>
          <a:xfrm>
            <a:off x="1097280" y="24688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5877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5146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Trigger and end state first</a:t>
            </a:r>
          </a:p>
        </p:txBody>
      </p:sp>
      <p:sp>
        <p:nvSpPr>
          <p:cNvPr id="11" name="TextBox 10"/>
          <p:cNvSpPr txBox="1"/>
          <p:nvPr/>
        </p:nvSpPr>
        <p:spPr>
          <a:xfrm>
            <a:off x="1097280" y="292608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What starts an order? How do you know it is finished?</a:t>
            </a:r>
          </a:p>
        </p:txBody>
      </p:sp>
      <p:sp>
        <p:nvSpPr>
          <p:cNvPr id="12" name="Rectangle 11"/>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70332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Fill the five columns</a:t>
            </a:r>
          </a:p>
        </p:txBody>
      </p:sp>
      <p:sp>
        <p:nvSpPr>
          <p:cNvPr id="15" name="TextBox 14"/>
          <p:cNvSpPr txBox="1"/>
          <p:nvPr/>
        </p:nvSpPr>
        <p:spPr>
          <a:xfrm>
            <a:off x="1097280" y="411480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Suppliers, Inputs, Process (five to seven steps), Outputs, Customers.</a:t>
            </a:r>
          </a:p>
        </p:txBody>
      </p:sp>
      <p:sp>
        <p:nvSpPr>
          <p:cNvPr id="16" name="Rectangle 15"/>
          <p:cNvSpPr/>
          <p:nvPr/>
        </p:nvSpPr>
        <p:spPr>
          <a:xfrm>
            <a:off x="1097280" y="48463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9651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8920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Share</a:t>
            </a:r>
          </a:p>
        </p:txBody>
      </p:sp>
      <p:sp>
        <p:nvSpPr>
          <p:cNvPr id="19" name="TextBox 18"/>
          <p:cNvSpPr txBox="1"/>
          <p:nvPr/>
        </p:nvSpPr>
        <p:spPr>
          <a:xfrm>
            <a:off x="1097280" y="530352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Back in the main room: every group pastes its trigger in the chat. Are they the same?</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30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3. The swimlane diagram</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One lane per actor. Every lane crossing is a hand-off.</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25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What a swimlane shows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15_swimlane.jpg"/>
          <p:cNvPicPr>
            <a:picLocks noChangeAspect="1"/>
          </p:cNvPicPr>
          <p:nvPr/>
        </p:nvPicPr>
        <p:blipFill>
          <a:blip r:embed="rId2"/>
          <a:stretch>
            <a:fillRect/>
          </a:stretch>
        </p:blipFill>
        <p:spPr>
          <a:xfrm>
            <a:off x="680392" y="1280160"/>
            <a:ext cx="6685935" cy="4663440"/>
          </a:xfrm>
          <a:prstGeom prst="rect">
            <a:avLst/>
          </a:prstGeom>
        </p:spPr>
      </p:pic>
      <p:sp>
        <p:nvSpPr>
          <p:cNvPr id="6" name="TextBox 5"/>
          <p:cNvSpPr txBox="1"/>
          <p:nvPr/>
        </p:nvSpPr>
        <p:spPr>
          <a:xfrm>
            <a:off x="7863840" y="1417320"/>
            <a:ext cx="3779215" cy="4663440"/>
          </a:xfrm>
          <a:prstGeom prst="rect">
            <a:avLst/>
          </a:prstGeom>
          <a:noFill/>
        </p:spPr>
        <p:txBody>
          <a:bodyPr wrap="square" lIns="45720" rIns="45720">
            <a:spAutoFit/>
          </a:bodyPr>
          <a:lstStyle/>
          <a:p>
            <a:pPr>
              <a:spcAft>
                <a:spcPts val="1000"/>
              </a:spcAft>
            </a:pPr>
            <a:r>
              <a:rPr sz="1800">
                <a:solidFill>
                  <a:srgbClr val="111111"/>
                </a:solidFill>
                <a:latin typeface="Calibri"/>
              </a:rPr>
              <a:t>•  One horizontal lane per actor: each person, team or system that touches the work</a:t>
            </a:r>
          </a:p>
          <a:p>
            <a:pPr>
              <a:spcAft>
                <a:spcPts val="1000"/>
              </a:spcAft>
            </a:pPr>
            <a:r>
              <a:rPr sz="1800">
                <a:solidFill>
                  <a:srgbClr val="111111"/>
                </a:solidFill>
                <a:latin typeface="Calibri"/>
              </a:rPr>
              <a:t>•  Each step sits in the lane of whoever does it</a:t>
            </a:r>
          </a:p>
          <a:p>
            <a:pPr>
              <a:spcAft>
                <a:spcPts val="1000"/>
              </a:spcAft>
            </a:pPr>
            <a:r>
              <a:rPr sz="1800">
                <a:solidFill>
                  <a:srgbClr val="111111"/>
                </a:solidFill>
                <a:latin typeface="Calibri"/>
              </a:rPr>
              <a:t>•  An arrow that crosses lanes is a hand-off</a:t>
            </a:r>
          </a:p>
          <a:p>
            <a:pPr>
              <a:spcAft>
                <a:spcPts val="1000"/>
              </a:spcAft>
            </a:pPr>
            <a:r>
              <a:rPr sz="1800">
                <a:solidFill>
                  <a:srgbClr val="111111"/>
                </a:solidFill>
                <a:latin typeface="Calibri"/>
              </a:rPr>
              <a:t>•  Hand-offs are where time is lost and information is dropped</a:t>
            </a:r>
          </a:p>
          <a:p>
            <a:pPr>
              <a:spcAft>
                <a:spcPts val="1000"/>
              </a:spcAft>
            </a:pPr>
            <a:r>
              <a:rPr sz="1800">
                <a:solidFill>
                  <a:srgbClr val="111111"/>
                </a:solidFill>
                <a:latin typeface="Calibri"/>
              </a:rPr>
              <a:t>•  Systems get their own lane: typing into the HR portal is a hand-off too</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Diagram: Foundation for Public Code, Wikimedia Commons, CC0</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Four shapes are enough</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2s3_notation.png"/>
          <p:cNvPicPr>
            <a:picLocks noChangeAspect="1"/>
          </p:cNvPicPr>
          <p:nvPr/>
        </p:nvPicPr>
        <p:blipFill>
          <a:blip r:embed="rId2"/>
          <a:stretch>
            <a:fillRect/>
          </a:stretch>
        </p:blipFill>
        <p:spPr>
          <a:xfrm>
            <a:off x="548640" y="1661452"/>
            <a:ext cx="11094415" cy="3397936"/>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Trigger (rounded, far left), step (a verb and an object), decision (yes/no with labelled exits), wait (written on the arrow).</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Live demo: build the leave-request map in draw.io</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Template: Day2_S3_Swimlane_Template.drawio. Five lanes, left to right, one shape at a time. Finished version: Day2_S3_Leave_Request_Example.drawio.</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current state, as it really runs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2s3_swimlane.png"/>
          <p:cNvPicPr>
            <a:picLocks noChangeAspect="1"/>
          </p:cNvPicPr>
          <p:nvPr/>
        </p:nvPicPr>
        <p:blipFill>
          <a:blip r:embed="rId2"/>
          <a:stretch>
            <a:fillRect/>
          </a:stretch>
        </p:blipFill>
        <p:spPr>
          <a:xfrm>
            <a:off x="758338" y="1280160"/>
            <a:ext cx="10675018"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Employee, line manager, HR coordinator, HR portal and the manager's own team spreadsheet. Eight hand-offs.</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Two numbers on every step</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19_queue.jpg"/>
          <p:cNvPicPr>
            <a:picLocks noChangeAspect="1"/>
          </p:cNvPicPr>
          <p:nvPr/>
        </p:nvPicPr>
        <p:blipFill>
          <a:blip r:embed="rId2"/>
          <a:stretch>
            <a:fillRect/>
          </a:stretch>
        </p:blipFill>
        <p:spPr>
          <a:xfrm>
            <a:off x="914400" y="1280160"/>
            <a:ext cx="6217920" cy="4663440"/>
          </a:xfrm>
          <a:prstGeom prst="rect">
            <a:avLst/>
          </a:prstGeom>
        </p:spPr>
      </p:pic>
      <p:sp>
        <p:nvSpPr>
          <p:cNvPr id="6" name="TextBox 5"/>
          <p:cNvSpPr txBox="1"/>
          <p:nvPr/>
        </p:nvSpPr>
        <p:spPr>
          <a:xfrm>
            <a:off x="7863840" y="1417320"/>
            <a:ext cx="3779215" cy="4663440"/>
          </a:xfrm>
          <a:prstGeom prst="rect">
            <a:avLst/>
          </a:prstGeom>
          <a:noFill/>
        </p:spPr>
        <p:txBody>
          <a:bodyPr wrap="square" lIns="45720" rIns="45720">
            <a:spAutoFit/>
          </a:bodyPr>
          <a:lstStyle/>
          <a:p>
            <a:pPr>
              <a:spcAft>
                <a:spcPts val="1000"/>
              </a:spcAft>
            </a:pPr>
            <a:r>
              <a:rPr sz="1800">
                <a:solidFill>
                  <a:srgbClr val="111111"/>
                </a:solidFill>
                <a:latin typeface="Calibri"/>
              </a:rPr>
              <a:t>•  Touch time: minutes of actual work on the step, written inside the box</a:t>
            </a:r>
          </a:p>
          <a:p>
            <a:pPr>
              <a:spcAft>
                <a:spcPts val="1000"/>
              </a:spcAft>
            </a:pPr>
            <a:r>
              <a:rPr sz="1800">
                <a:solidFill>
                  <a:srgbClr val="111111"/>
                </a:solidFill>
                <a:latin typeface="Calibri"/>
              </a:rPr>
              <a:t>•  Wait time: how long the work sits before the step starts, written on the arrow</a:t>
            </a:r>
          </a:p>
          <a:p>
            <a:pPr>
              <a:spcAft>
                <a:spcPts val="1000"/>
              </a:spcAft>
            </a:pPr>
            <a:r>
              <a:rPr sz="1800">
                <a:solidFill>
                  <a:srgbClr val="111111"/>
                </a:solidFill>
                <a:latin typeface="Calibri"/>
              </a:rPr>
              <a:t>•  Large touch time on reading or writing: fix with an AI step</a:t>
            </a:r>
          </a:p>
          <a:p>
            <a:pPr>
              <a:spcAft>
                <a:spcPts val="1000"/>
              </a:spcAft>
            </a:pPr>
            <a:r>
              <a:rPr sz="1800">
                <a:solidFill>
                  <a:srgbClr val="111111"/>
                </a:solidFill>
                <a:latin typeface="Calibri"/>
              </a:rPr>
              <a:t>•  Large waits: fix with notifications, routing, reminders</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Photo: B25es, Wikimedia Commons, CC BY-SA 4.0</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25 minutes of work, four days of waiting</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2s3_touch_wait.png"/>
          <p:cNvPicPr>
            <a:picLocks noChangeAspect="1"/>
          </p:cNvPicPr>
          <p:nvPr/>
        </p:nvPicPr>
        <p:blipFill>
          <a:blip r:embed="rId2"/>
          <a:stretch>
            <a:fillRect/>
          </a:stretch>
        </p:blipFill>
        <p:spPr>
          <a:xfrm>
            <a:off x="548640" y="1733239"/>
            <a:ext cx="11094415" cy="3254361"/>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black slivers are the work. The orange blocks are the queues. Speeding up the work barely changes the total.</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Map what happens, not what should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21_gemba.jpg"/>
          <p:cNvPicPr>
            <a:picLocks noChangeAspect="1"/>
          </p:cNvPicPr>
          <p:nvPr/>
        </p:nvPicPr>
        <p:blipFill>
          <a:blip r:embed="rId2"/>
          <a:stretch>
            <a:fillRect/>
          </a:stretch>
        </p:blipFill>
        <p:spPr>
          <a:xfrm>
            <a:off x="924729" y="1280160"/>
            <a:ext cx="6197262" cy="4663440"/>
          </a:xfrm>
          <a:prstGeom prst="rect">
            <a:avLst/>
          </a:prstGeom>
        </p:spPr>
      </p:pic>
      <p:sp>
        <p:nvSpPr>
          <p:cNvPr id="6" name="TextBox 5"/>
          <p:cNvSpPr txBox="1"/>
          <p:nvPr/>
        </p:nvSpPr>
        <p:spPr>
          <a:xfrm>
            <a:off x="7863840" y="1417320"/>
            <a:ext cx="3779215" cy="4663440"/>
          </a:xfrm>
          <a:prstGeom prst="rect">
            <a:avLst/>
          </a:prstGeom>
          <a:noFill/>
        </p:spPr>
        <p:txBody>
          <a:bodyPr wrap="square" lIns="45720" rIns="45720">
            <a:spAutoFit/>
          </a:bodyPr>
          <a:lstStyle/>
          <a:p>
            <a:pPr>
              <a:spcAft>
                <a:spcPts val="1000"/>
              </a:spcAft>
            </a:pPr>
            <a:r>
              <a:rPr sz="1800">
                <a:solidFill>
                  <a:srgbClr val="111111"/>
                </a:solidFill>
                <a:latin typeface="Calibri"/>
              </a:rPr>
              <a:t>•  Go and see the work where it happens (in lean: the gemba)</a:t>
            </a:r>
          </a:p>
          <a:p>
            <a:pPr>
              <a:spcAft>
                <a:spcPts val="1000"/>
              </a:spcAft>
            </a:pPr>
            <a:r>
              <a:rPr sz="1800">
                <a:solidFill>
                  <a:srgbClr val="111111"/>
                </a:solidFill>
                <a:latin typeface="Calibri"/>
              </a:rPr>
              <a:t>•  Include the workaround: the private team spreadsheet, the email to HR, the re-typing</a:t>
            </a:r>
          </a:p>
          <a:p>
            <a:pPr>
              <a:spcAft>
                <a:spcPts val="1000"/>
              </a:spcAft>
            </a:pPr>
            <a:r>
              <a:rPr sz="1800">
                <a:solidFill>
                  <a:srgbClr val="111111"/>
                </a:solidFill>
                <a:latin typeface="Calibri"/>
              </a:rPr>
              <a:t>•  The official procedure is fiction until someone follows it</a:t>
            </a:r>
          </a:p>
          <a:p>
            <a:pPr>
              <a:spcAft>
                <a:spcPts val="1000"/>
              </a:spcAft>
            </a:pPr>
            <a:r>
              <a:rPr sz="1800">
                <a:solidFill>
                  <a:srgbClr val="111111"/>
                </a:solidFill>
                <a:latin typeface="Calibri"/>
              </a:rPr>
              <a:t>•  Automate reality</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Photo: Anonyme, Wikimedia Commons, CC BY 2.5</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55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Break</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10 minutes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65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4. Tagging pain points</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One vocabulary for every map, so maps can be compared</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Seven tags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2s3_tags.png"/>
          <p:cNvPicPr>
            <a:picLocks noChangeAspect="1"/>
          </p:cNvPicPr>
          <p:nvPr/>
        </p:nvPicPr>
        <p:blipFill>
          <a:blip r:embed="rId2"/>
          <a:stretch>
            <a:fillRect/>
          </a:stretch>
        </p:blipFill>
        <p:spPr>
          <a:xfrm>
            <a:off x="548640" y="1363425"/>
            <a:ext cx="11094415" cy="3993989"/>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REKEY, WAIT, READ, DRAFT, CHASE, RUBBER and JUDGE, each with its typical fix.</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leave-request map, tagged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2s3_tagged.png"/>
          <p:cNvPicPr>
            <a:picLocks noChangeAspect="1"/>
          </p:cNvPicPr>
          <p:nvPr/>
        </p:nvPicPr>
        <p:blipFill>
          <a:blip r:embed="rId2"/>
          <a:stretch>
            <a:fillRect/>
          </a:stretch>
        </p:blipFill>
        <p:spPr>
          <a:xfrm>
            <a:off x="758338" y="1280160"/>
            <a:ext cx="10675018"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Three REKEY steps, a CHASE to HR, a RUBBER approval, a DRAFT reply, and one JUDGE decision to protect.</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AI Administrator course material (A. Al-Banna, 2026)</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JUDGE is a tag, not a problem</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26_judgement.jpg"/>
          <p:cNvPicPr>
            <a:picLocks noChangeAspect="1"/>
          </p:cNvPicPr>
          <p:nvPr/>
        </p:nvPicPr>
        <p:blipFill>
          <a:blip r:embed="rId2"/>
          <a:stretch>
            <a:fillRect/>
          </a:stretch>
        </p:blipFill>
        <p:spPr>
          <a:xfrm>
            <a:off x="914400" y="1280160"/>
            <a:ext cx="6217920" cy="4663440"/>
          </a:xfrm>
          <a:prstGeom prst="rect">
            <a:avLst/>
          </a:prstGeom>
        </p:spPr>
      </p:pic>
      <p:sp>
        <p:nvSpPr>
          <p:cNvPr id="6" name="TextBox 5"/>
          <p:cNvSpPr txBox="1"/>
          <p:nvPr/>
        </p:nvSpPr>
        <p:spPr>
          <a:xfrm>
            <a:off x="7863840" y="1417320"/>
            <a:ext cx="3779215" cy="4663440"/>
          </a:xfrm>
          <a:prstGeom prst="rect">
            <a:avLst/>
          </a:prstGeom>
          <a:noFill/>
        </p:spPr>
        <p:txBody>
          <a:bodyPr wrap="square" lIns="45720" rIns="45720">
            <a:spAutoFit/>
          </a:bodyPr>
          <a:lstStyle/>
          <a:p>
            <a:pPr>
              <a:spcAft>
                <a:spcPts val="1000"/>
              </a:spcAft>
            </a:pPr>
            <a:r>
              <a:rPr sz="1800">
                <a:solidFill>
                  <a:srgbClr val="111111"/>
                </a:solidFill>
                <a:latin typeface="Calibri"/>
              </a:rPr>
              <a:t>•  A JUDGE step is a real decision that needs a person's judgement or accountability</a:t>
            </a:r>
          </a:p>
          <a:p>
            <a:pPr>
              <a:spcAft>
                <a:spcPts val="1000"/>
              </a:spcAft>
            </a:pPr>
            <a:r>
              <a:rPr sz="1800">
                <a:solidFill>
                  <a:srgbClr val="111111"/>
                </a:solidFill>
                <a:latin typeface="Calibri"/>
              </a:rPr>
              <a:t>•  Do not automate it. Protect it, and give the person a better summary</a:t>
            </a:r>
          </a:p>
          <a:p>
            <a:pPr>
              <a:spcAft>
                <a:spcPts val="1000"/>
              </a:spcAft>
            </a:pPr>
            <a:r>
              <a:rPr sz="1800">
                <a:solidFill>
                  <a:srgbClr val="111111"/>
                </a:solidFill>
                <a:latin typeface="Calibri"/>
              </a:rPr>
              <a:t>•  Marking it now keeps the human in the loop by design, not by accident (Day 5, Module 10)</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Photo: Blogtrepreneur, Wikimedia Commons, CC BY 2.0</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80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5. Mapping with colleagues</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You rarely know the whole process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Ask this, not that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Ask</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'Walk me through the last one you handled'</a:t>
            </a:r>
          </a:p>
          <a:p>
            <a:pPr>
              <a:spcAft>
                <a:spcPts val="1000"/>
              </a:spcAft>
            </a:pPr>
            <a:r>
              <a:rPr sz="1800">
                <a:solidFill>
                  <a:srgbClr val="111111"/>
                </a:solidFill>
                <a:latin typeface="Calibri"/>
              </a:rPr>
              <a:t>•  'What did you have to look up, and where?'</a:t>
            </a:r>
          </a:p>
          <a:p>
            <a:pPr>
              <a:spcAft>
                <a:spcPts val="1000"/>
              </a:spcAft>
            </a:pPr>
            <a:r>
              <a:rPr sz="1800">
                <a:solidFill>
                  <a:srgbClr val="111111"/>
                </a:solidFill>
                <a:latin typeface="Calibri"/>
              </a:rPr>
              <a:t>•  'Who did you wait for, and how long?'</a:t>
            </a:r>
          </a:p>
          <a:p>
            <a:pPr>
              <a:spcAft>
                <a:spcPts val="1000"/>
              </a:spcAft>
            </a:pPr>
            <a:r>
              <a:rPr sz="1800">
                <a:solidFill>
                  <a:srgbClr val="111111"/>
                </a:solidFill>
                <a:latin typeface="Calibri"/>
              </a:rPr>
              <a:t>•  'When does this go wrong, and what then?'</a:t>
            </a:r>
          </a:p>
          <a:p>
            <a:pPr>
              <a:spcAft>
                <a:spcPts val="1000"/>
              </a:spcAft>
            </a:pPr>
            <a:r>
              <a:rPr sz="1800">
                <a:solidFill>
                  <a:srgbClr val="111111"/>
                </a:solidFill>
                <a:latin typeface="Calibri"/>
              </a:rPr>
              <a:t>•  'Is there a step you do that isn't official?'</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Avoid</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'How does this process work?' (gets the official version)</a:t>
            </a:r>
          </a:p>
          <a:p>
            <a:pPr>
              <a:spcAft>
                <a:spcPts val="1000"/>
              </a:spcAft>
            </a:pPr>
            <a:r>
              <a:rPr sz="1800">
                <a:solidFill>
                  <a:srgbClr val="111111"/>
                </a:solidFill>
                <a:latin typeface="Calibri"/>
              </a:rPr>
              <a:t>•  'You follow the procedure, right?' (leading)</a:t>
            </a:r>
          </a:p>
          <a:p>
            <a:pPr>
              <a:spcAft>
                <a:spcPts val="1000"/>
              </a:spcAft>
            </a:pPr>
            <a:r>
              <a:rPr sz="1800">
                <a:solidFill>
                  <a:srgbClr val="111111"/>
                </a:solidFill>
                <a:latin typeface="Calibri"/>
              </a:rPr>
              <a:t>•  'Wouldn't it be faster if...?' (proposing fixes)</a:t>
            </a:r>
          </a:p>
          <a:p>
            <a:pPr>
              <a:spcAft>
                <a:spcPts val="1000"/>
              </a:spcAft>
            </a:pPr>
            <a:r>
              <a:rPr sz="1800">
                <a:solidFill>
                  <a:srgbClr val="111111"/>
                </a:solidFill>
                <a:latin typeface="Calibri"/>
              </a:rPr>
              <a:t>•  Interviewing without the real email, form or sheet in front of you</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Role-play (3 minutes)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Setup</a:t>
            </a:r>
          </a:p>
        </p:txBody>
      </p:sp>
      <p:sp>
        <p:nvSpPr>
          <p:cNvPr id="7" name="TextBox 6"/>
          <p:cNvSpPr txBox="1"/>
          <p:nvPr/>
        </p:nvSpPr>
        <p:spPr>
          <a:xfrm>
            <a:off x="1097280" y="173736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One instructor is the HR coordinator. The other interviews about leave requests.</a:t>
            </a:r>
          </a:p>
        </p:txBody>
      </p:sp>
      <p:sp>
        <p:nvSpPr>
          <p:cNvPr id="8" name="Rectangle 7"/>
          <p:cNvSpPr/>
          <p:nvPr/>
        </p:nvSpPr>
        <p:spPr>
          <a:xfrm>
            <a:off x="1097280" y="28651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9839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9108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Watch for</a:t>
            </a:r>
          </a:p>
        </p:txBody>
      </p:sp>
      <p:sp>
        <p:nvSpPr>
          <p:cNvPr id="11" name="TextBox 10"/>
          <p:cNvSpPr txBox="1"/>
          <p:nvPr/>
        </p:nvSpPr>
        <p:spPr>
          <a:xfrm>
            <a:off x="1097280" y="332232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One leading question is planted. Type 'leading' in the chat when you hear it.</a:t>
            </a:r>
          </a:p>
        </p:txBody>
      </p:sp>
      <p:sp>
        <p:nvSpPr>
          <p:cNvPr id="12" name="Rectangle 11"/>
          <p:cNvSpPr/>
          <p:nvPr/>
        </p:nvSpPr>
        <p:spPr>
          <a:xfrm>
            <a:off x="1097280" y="44500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45689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44958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Then</a:t>
            </a:r>
          </a:p>
        </p:txBody>
      </p:sp>
      <p:sp>
        <p:nvSpPr>
          <p:cNvPr id="15" name="TextBox 14"/>
          <p:cNvSpPr txBox="1"/>
          <p:nvPr/>
        </p:nvSpPr>
        <p:spPr>
          <a:xfrm>
            <a:off x="1097280" y="490728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What did the interviewer learn that is not on the official policy?</a:t>
            </a:r>
          </a:p>
        </p:txBody>
      </p:sp>
      <p:sp>
        <p:nvSpPr>
          <p:cNvPr id="16" name="Rectangle 1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8" name="TextBox 1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Five rules for an honest interview</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28_interview.jpg"/>
          <p:cNvPicPr>
            <a:picLocks noChangeAspect="1"/>
          </p:cNvPicPr>
          <p:nvPr/>
        </p:nvPicPr>
        <p:blipFill>
          <a:blip r:embed="rId2"/>
          <a:stretch>
            <a:fillRect/>
          </a:stretch>
        </p:blipFill>
        <p:spPr>
          <a:xfrm>
            <a:off x="548640" y="1357655"/>
            <a:ext cx="6949439" cy="4508449"/>
          </a:xfrm>
          <a:prstGeom prst="rect">
            <a:avLst/>
          </a:prstGeom>
        </p:spPr>
      </p:pic>
      <p:sp>
        <p:nvSpPr>
          <p:cNvPr id="6" name="TextBox 5"/>
          <p:cNvSpPr txBox="1"/>
          <p:nvPr/>
        </p:nvSpPr>
        <p:spPr>
          <a:xfrm>
            <a:off x="7863840" y="1417320"/>
            <a:ext cx="3779215" cy="4663440"/>
          </a:xfrm>
          <a:prstGeom prst="rect">
            <a:avLst/>
          </a:prstGeom>
          <a:noFill/>
        </p:spPr>
        <p:txBody>
          <a:bodyPr wrap="square" lIns="45720" rIns="45720">
            <a:spAutoFit/>
          </a:bodyPr>
          <a:lstStyle/>
          <a:p>
            <a:pPr>
              <a:spcAft>
                <a:spcPts val="1000"/>
              </a:spcAft>
            </a:pPr>
            <a:r>
              <a:rPr sz="1700">
                <a:solidFill>
                  <a:srgbClr val="111111"/>
                </a:solidFill>
                <a:latin typeface="Calibri"/>
              </a:rPr>
              <a:t>•  Ask for the last real case, not the general process</a:t>
            </a:r>
          </a:p>
          <a:p>
            <a:pPr>
              <a:spcAft>
                <a:spcPts val="1000"/>
              </a:spcAft>
            </a:pPr>
            <a:r>
              <a:rPr sz="1700">
                <a:solidFill>
                  <a:srgbClr val="111111"/>
                </a:solidFill>
                <a:latin typeface="Calibri"/>
              </a:rPr>
              <a:t>•  At every decision ask 'what happens if...?'</a:t>
            </a:r>
          </a:p>
          <a:p>
            <a:pPr>
              <a:spcAft>
                <a:spcPts val="1000"/>
              </a:spcAft>
            </a:pPr>
            <a:r>
              <a:rPr sz="1700">
                <a:solidFill>
                  <a:srgbClr val="111111"/>
                </a:solidFill>
                <a:latin typeface="Calibri"/>
              </a:rPr>
              <a:t>•  Ask for the artefacts: the email, the sheet, the form (screenshots with permission)</a:t>
            </a:r>
          </a:p>
          <a:p>
            <a:pPr>
              <a:spcAft>
                <a:spcPts val="1000"/>
              </a:spcAft>
            </a:pPr>
            <a:r>
              <a:rPr sz="1700">
                <a:solidFill>
                  <a:srgbClr val="111111"/>
                </a:solidFill>
                <a:latin typeface="Calibri"/>
              </a:rPr>
              <a:t>•  Do not propose fixes during the interview; people stop describing and start defending</a:t>
            </a:r>
          </a:p>
          <a:p>
            <a:pPr>
              <a:spcAft>
                <a:spcPts val="1000"/>
              </a:spcAft>
            </a:pPr>
            <a:r>
              <a:rPr sz="1700">
                <a:solidFill>
                  <a:srgbClr val="111111"/>
                </a:solidFill>
                <a:latin typeface="Calibri"/>
              </a:rPr>
              <a:t>•  Confirm the map with them afterwards. A map nobody checked is a guess with boxes.</a:t>
            </a:r>
          </a:p>
        </p:txBody>
      </p:sp>
      <p:sp>
        <p:nvSpPr>
          <p:cNvPr id="7" name="TextBox 6"/>
          <p:cNvSpPr txBox="1"/>
          <p:nvPr/>
        </p:nvSpPr>
        <p:spPr>
          <a:xfrm>
            <a:off x="4785055" y="6016752"/>
            <a:ext cx="6858000" cy="274320"/>
          </a:xfrm>
          <a:prstGeom prst="rect">
            <a:avLst/>
          </a:prstGeom>
          <a:noFill/>
        </p:spPr>
        <p:txBody>
          <a:bodyPr wrap="square" anchor="t" lIns="45720" rIns="45720" tIns="27432" bIns="27432">
            <a:spAutoFit/>
          </a:bodyPr>
          <a:lstStyle/>
          <a:p>
            <a:pPr algn="r"/>
            <a:r>
              <a:rPr sz="900" b="0" i="1">
                <a:solidFill>
                  <a:srgbClr val="666666"/>
                </a:solidFill>
                <a:latin typeface="Calibri"/>
              </a:rPr>
              <a:t>Photo: amtec_photos, Wikimedia Commons, CC BY-SA 2.0</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90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Practical: a live map reviewer</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Send your step list to an AI reviewer from your phone. Nothing to install.</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Meet the map reviewer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An AI reviewer that reads a list of process steps</a:t>
            </a:r>
          </a:p>
          <a:p>
            <a:pPr>
              <a:spcAft>
                <a:spcPts val="1200"/>
              </a:spcAft>
            </a:pPr>
            <a:r>
              <a:rPr sz="2200">
                <a:solidFill>
                  <a:srgbClr val="111111"/>
                </a:solidFill>
                <a:latin typeface="Calibri"/>
              </a:rPr>
              <a:t>•  Answers in a fixed shape: missing steps, decisions with no 'no' path, the three riskiest hand-offs, suggested tags</a:t>
            </a:r>
          </a:p>
          <a:p>
            <a:pPr>
              <a:spcAft>
                <a:spcPts val="1200"/>
              </a:spcAft>
            </a:pPr>
            <a:r>
              <a:rPr sz="2200">
                <a:solidFill>
                  <a:srgbClr val="111111"/>
                </a:solidFill>
                <a:latin typeface="Calibri"/>
              </a:rPr>
              <a:t>•  It never suggests automation. That is Session 4.</a:t>
            </a:r>
          </a:p>
          <a:p>
            <a:pPr>
              <a:spcAft>
                <a:spcPts val="1200"/>
              </a:spcAft>
            </a:pPr>
            <a:r>
              <a:rPr sz="2200">
                <a:solidFill>
                  <a:srgbClr val="111111"/>
                </a:solidFill>
                <a:latin typeface="Calibri"/>
              </a:rPr>
              <a:t>•  No tools, no memory: it only sees what you paste</a:t>
            </a:r>
          </a:p>
          <a:p>
            <a:pPr>
              <a:spcAft>
                <a:spcPts val="1200"/>
              </a:spcAft>
            </a:pPr>
            <a:r>
              <a:rPr sz="2200">
                <a:solidFill>
                  <a:srgbClr val="111111"/>
                </a:solidFill>
                <a:latin typeface="Calibri"/>
              </a:rPr>
              <a:t>•  Same bot as Day 1, new job: today its instructions say review maps, nothing else</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Join the map reviewer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t_qr.png"/>
          <p:cNvPicPr>
            <a:picLocks noChangeAspect="1"/>
          </p:cNvPicPr>
          <p:nvPr/>
        </p:nvPicPr>
        <p:blipFill>
          <a:blip r:embed="rId2"/>
          <a:stretch>
            <a:fillRect/>
          </a:stretch>
        </p:blipFill>
        <p:spPr>
          <a:xfrm>
            <a:off x="548640" y="1508760"/>
            <a:ext cx="3291839" cy="3291839"/>
          </a:xfrm>
          <a:prstGeom prst="rect">
            <a:avLst/>
          </a:prstGeom>
        </p:spPr>
      </p:pic>
      <p:sp>
        <p:nvSpPr>
          <p:cNvPr id="6" name="TextBox 5"/>
          <p:cNvSpPr txBox="1"/>
          <p:nvPr/>
        </p:nvSpPr>
        <p:spPr>
          <a:xfrm>
            <a:off x="548640" y="4937760"/>
            <a:ext cx="3291840" cy="457200"/>
          </a:xfrm>
          <a:prstGeom prst="rect">
            <a:avLst/>
          </a:prstGeom>
          <a:noFill/>
        </p:spPr>
        <p:txBody>
          <a:bodyPr wrap="square" anchor="t" lIns="45720" rIns="45720" tIns="27432" bIns="27432">
            <a:spAutoFit/>
          </a:bodyPr>
          <a:lstStyle/>
          <a:p>
            <a:pPr algn="ctr"/>
            <a:r>
              <a:rPr sz="1800" b="1" i="0">
                <a:solidFill>
                  <a:srgbClr val="111111"/>
                </a:solidFill>
                <a:latin typeface="Calibri"/>
              </a:rPr>
              <a:t>@aicaravan_bot</a:t>
            </a:r>
          </a:p>
        </p:txBody>
      </p:sp>
      <p:sp>
        <p:nvSpPr>
          <p:cNvPr id="7" name="TextBox 6"/>
          <p:cNvSpPr txBox="1"/>
          <p:nvPr/>
        </p:nvSpPr>
        <p:spPr>
          <a:xfrm>
            <a:off x="4389120" y="1508760"/>
            <a:ext cx="7253935" cy="457200"/>
          </a:xfrm>
          <a:prstGeom prst="rect">
            <a:avLst/>
          </a:prstGeom>
          <a:noFill/>
        </p:spPr>
        <p:txBody>
          <a:bodyPr wrap="square" anchor="t" lIns="45720" rIns="45720" tIns="27432" bIns="27432">
            <a:spAutoFit/>
          </a:bodyPr>
          <a:lstStyle/>
          <a:p>
            <a:pPr algn="l"/>
            <a:r>
              <a:rPr sz="2000" b="1" i="0">
                <a:solidFill>
                  <a:srgbClr val="111111"/>
                </a:solidFill>
                <a:latin typeface="Calibri"/>
              </a:rPr>
              <a:t>How to join</a:t>
            </a:r>
          </a:p>
        </p:txBody>
      </p:sp>
      <p:sp>
        <p:nvSpPr>
          <p:cNvPr id="8" name="TextBox 7"/>
          <p:cNvSpPr txBox="1"/>
          <p:nvPr/>
        </p:nvSpPr>
        <p:spPr>
          <a:xfrm>
            <a:off x="4389120" y="2011680"/>
            <a:ext cx="7253935" cy="1828800"/>
          </a:xfrm>
          <a:prstGeom prst="rect">
            <a:avLst/>
          </a:prstGeom>
          <a:noFill/>
        </p:spPr>
        <p:txBody>
          <a:bodyPr wrap="square" lIns="45720" rIns="45720">
            <a:spAutoFit/>
          </a:bodyPr>
          <a:lstStyle/>
          <a:p>
            <a:pPr>
              <a:spcAft>
                <a:spcPts val="800"/>
              </a:spcAft>
            </a:pPr>
            <a:r>
              <a:rPr sz="1700">
                <a:solidFill>
                  <a:srgbClr val="111111"/>
                </a:solidFill>
                <a:latin typeface="Calibri"/>
              </a:rPr>
              <a:t>1.  Click t.me/aicaravan_bot in the chat, or open Telegram on your phone</a:t>
            </a:r>
          </a:p>
          <a:p>
            <a:pPr>
              <a:spcAft>
                <a:spcPts val="800"/>
              </a:spcAft>
            </a:pPr>
            <a:r>
              <a:rPr sz="1700">
                <a:solidFill>
                  <a:srgbClr val="111111"/>
                </a:solidFill>
                <a:latin typeface="Calibri"/>
              </a:rPr>
              <a:t>2.  Or scan the code on the shared screen</a:t>
            </a:r>
          </a:p>
          <a:p>
            <a:pPr>
              <a:spcAft>
                <a:spcPts val="800"/>
              </a:spcAft>
            </a:pPr>
            <a:r>
              <a:rPr sz="1700">
                <a:solidFill>
                  <a:srgbClr val="111111"/>
                </a:solidFill>
                <a:latin typeface="Calibri"/>
              </a:rPr>
              <a:t>3.  Press Start</a:t>
            </a:r>
          </a:p>
        </p:txBody>
      </p:sp>
      <p:sp>
        <p:nvSpPr>
          <p:cNvPr id="9" name="TextBox 8"/>
          <p:cNvSpPr txBox="1"/>
          <p:nvPr/>
        </p:nvSpPr>
        <p:spPr>
          <a:xfrm>
            <a:off x="4389120" y="3794760"/>
            <a:ext cx="7253935" cy="457200"/>
          </a:xfrm>
          <a:prstGeom prst="rect">
            <a:avLst/>
          </a:prstGeom>
          <a:noFill/>
        </p:spPr>
        <p:txBody>
          <a:bodyPr wrap="square" anchor="t" lIns="45720" rIns="45720" tIns="27432" bIns="27432">
            <a:spAutoFit/>
          </a:bodyPr>
          <a:lstStyle/>
          <a:p>
            <a:pPr algn="l"/>
            <a:r>
              <a:rPr sz="2000" b="1" i="0">
                <a:solidFill>
                  <a:srgbClr val="111111"/>
                </a:solidFill>
                <a:latin typeface="Calibri"/>
              </a:rPr>
              <a:t>Three rules</a:t>
            </a:r>
          </a:p>
        </p:txBody>
      </p:sp>
      <p:sp>
        <p:nvSpPr>
          <p:cNvPr id="10" name="TextBox 9"/>
          <p:cNvSpPr txBox="1"/>
          <p:nvPr/>
        </p:nvSpPr>
        <p:spPr>
          <a:xfrm>
            <a:off x="4389120" y="4297680"/>
            <a:ext cx="7253935" cy="1645920"/>
          </a:xfrm>
          <a:prstGeom prst="rect">
            <a:avLst/>
          </a:prstGeom>
          <a:noFill/>
        </p:spPr>
        <p:txBody>
          <a:bodyPr wrap="square" lIns="45720" rIns="45720">
            <a:spAutoFit/>
          </a:bodyPr>
          <a:lstStyle/>
          <a:p>
            <a:pPr>
              <a:spcAft>
                <a:spcPts val="600"/>
              </a:spcAft>
            </a:pPr>
            <a:r>
              <a:rPr sz="1600">
                <a:solidFill>
                  <a:srgbClr val="111111"/>
                </a:solidFill>
                <a:latin typeface="Calibri"/>
              </a:rPr>
              <a:t>•  Paste process steps only</a:t>
            </a:r>
          </a:p>
          <a:p>
            <a:pPr>
              <a:spcAft>
                <a:spcPts val="600"/>
              </a:spcAft>
            </a:pPr>
            <a:r>
              <a:rPr sz="1600">
                <a:solidFill>
                  <a:srgbClr val="111111"/>
                </a:solidFill>
                <a:latin typeface="Calibri"/>
              </a:rPr>
              <a:t>•  No real names or personal data; use roles</a:t>
            </a:r>
          </a:p>
          <a:p>
            <a:pPr>
              <a:spcAft>
                <a:spcPts val="600"/>
              </a:spcAft>
            </a:pPr>
            <a:r>
              <a:rPr sz="1600">
                <a:solidFill>
                  <a:srgbClr val="111111"/>
                </a:solidFill>
                <a:latin typeface="Calibri"/>
              </a:rPr>
              <a:t>•  Messages are deleted after the session</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Three tasks (10 minutes)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1. The example</a:t>
            </a:r>
          </a:p>
        </p:txBody>
      </p:sp>
      <p:sp>
        <p:nvSpPr>
          <p:cNvPr id="7" name="TextBox 6"/>
          <p:cNvSpPr txBox="1"/>
          <p:nvPr/>
        </p:nvSpPr>
        <p:spPr>
          <a:xfrm>
            <a:off x="1097280" y="173736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Paste the leave-request step list from the worksheet. Compare its findings with the map on the shared screen.</a:t>
            </a:r>
          </a:p>
        </p:txBody>
      </p:sp>
      <p:sp>
        <p:nvSpPr>
          <p:cNvPr id="8" name="Rectangle 7"/>
          <p:cNvSpPr/>
          <p:nvPr/>
        </p:nvSpPr>
        <p:spPr>
          <a:xfrm>
            <a:off x="1097280" y="28651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9839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9108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2. Your own task</a:t>
            </a:r>
          </a:p>
        </p:txBody>
      </p:sp>
      <p:sp>
        <p:nvSpPr>
          <p:cNvPr id="11" name="TextBox 10"/>
          <p:cNvSpPr txBox="1"/>
          <p:nvPr/>
        </p:nvSpPr>
        <p:spPr>
          <a:xfrm>
            <a:off x="1097280" y="332232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Type five to eight steps of your course task, one per line: who does what. Read what it says is missing.</a:t>
            </a:r>
          </a:p>
        </p:txBody>
      </p:sp>
      <p:sp>
        <p:nvSpPr>
          <p:cNvPr id="12" name="Rectangle 11"/>
          <p:cNvSpPr/>
          <p:nvPr/>
        </p:nvSpPr>
        <p:spPr>
          <a:xfrm>
            <a:off x="1097280" y="44500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45689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44958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3. Test its boundary</a:t>
            </a:r>
          </a:p>
        </p:txBody>
      </p:sp>
      <p:sp>
        <p:nvSpPr>
          <p:cNvPr id="15" name="TextBox 14"/>
          <p:cNvSpPr txBox="1"/>
          <p:nvPr/>
        </p:nvSpPr>
        <p:spPr>
          <a:xfrm>
            <a:off x="1097280" y="4907280"/>
            <a:ext cx="10545775" cy="1127760"/>
          </a:xfrm>
          <a:prstGeom prst="rect">
            <a:avLst/>
          </a:prstGeom>
          <a:noFill/>
        </p:spPr>
        <p:txBody>
          <a:bodyPr wrap="square" anchor="t" lIns="45720" rIns="45720" tIns="27432" bIns="27432">
            <a:spAutoFit/>
          </a:bodyPr>
          <a:lstStyle/>
          <a:p>
            <a:pPr algn="l"/>
            <a:r>
              <a:rPr sz="1500" b="0" i="0">
                <a:solidFill>
                  <a:srgbClr val="111111"/>
                </a:solidFill>
                <a:latin typeface="Calibri"/>
              </a:rPr>
              <a:t>Ask it: 'Now automate this for me.' What does it do?</a:t>
            </a:r>
          </a:p>
        </p:txBody>
      </p:sp>
      <p:sp>
        <p:nvSpPr>
          <p:cNvPr id="16" name="Rectangle 1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8" name="TextBox 1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What the reviewer should find in the example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Missing steps and paths</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Department-head approval for leave in the last two weeks of a quarter</a:t>
            </a:r>
          </a:p>
          <a:p>
            <a:pPr>
              <a:spcAft>
                <a:spcPts val="1000"/>
              </a:spcAft>
            </a:pPr>
            <a:r>
              <a:rPr sz="1800">
                <a:solidFill>
                  <a:srgbClr val="111111"/>
                </a:solidFill>
                <a:latin typeface="Calibri"/>
              </a:rPr>
              <a:t>•  Escalation to HR when the manager does not answer in three working days</a:t>
            </a:r>
          </a:p>
          <a:p>
            <a:pPr>
              <a:spcAft>
                <a:spcPts val="1000"/>
              </a:spcAft>
            </a:pPr>
            <a:r>
              <a:rPr sz="1800">
                <a:solidFill>
                  <a:srgbClr val="111111"/>
                </a:solidFill>
                <a:latin typeface="Calibri"/>
              </a:rPr>
              <a:t>•  HR's portal approval has no 'decline' path</a:t>
            </a:r>
          </a:p>
          <a:p>
            <a:pPr>
              <a:spcAft>
                <a:spcPts val="1000"/>
              </a:spcAft>
            </a:pPr>
            <a:r>
              <a:rPr sz="1800">
                <a:solidFill>
                  <a:srgbClr val="111111"/>
                </a:solidFill>
                <a:latin typeface="Calibri"/>
              </a:rPr>
              <a:t>•  Notice-period and probation checks are never done</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Riskiest hand-offs and tags</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Manager to HR by email: the balance request (CHASE)</a:t>
            </a:r>
          </a:p>
          <a:p>
            <a:pPr>
              <a:spcAft>
                <a:spcPts val="1000"/>
              </a:spcAft>
            </a:pPr>
            <a:r>
              <a:rPr sz="1800">
                <a:solidFill>
                  <a:srgbClr val="111111"/>
                </a:solidFill>
                <a:latin typeface="Calibri"/>
              </a:rPr>
              <a:t>•  Approval email to employee re-entry in the portal (REKEY)</a:t>
            </a:r>
          </a:p>
          <a:p>
            <a:pPr>
              <a:spcAft>
                <a:spcPts val="1000"/>
              </a:spcAft>
            </a:pPr>
            <a:r>
              <a:rPr sz="1800">
                <a:solidFill>
                  <a:srgbClr val="111111"/>
                </a:solidFill>
                <a:latin typeface="Calibri"/>
              </a:rPr>
              <a:t>•  Portal confirmation to the private team sheet (REKEY)</a:t>
            </a:r>
          </a:p>
          <a:p>
            <a:pPr>
              <a:spcAft>
                <a:spcPts val="1000"/>
              </a:spcAft>
            </a:pPr>
            <a:r>
              <a:rPr sz="1800">
                <a:solidFill>
                  <a:srgbClr val="111111"/>
                </a:solidFill>
                <a:latin typeface="Calibri"/>
              </a:rPr>
              <a:t>•  Manager's clash decision stays human (JUDGE)</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reviewer is a colleague, not an authority</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It finds gaps fast, but it only knows what you pasted. Check every finding against the policy and against the people who do the work. Your colleague interview still decides what is true.</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105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Kahoot: knowledge check</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20 questions, 20 seconds each. Phones out.</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10 minutes</a:t>
            </a:r>
          </a:p>
        </p:txBody>
      </p:sp>
      <p:pic>
        <p:nvPicPr>
          <p:cNvPr id="7" name="Picture 6" descr="kahoot_logo.png"/>
          <p:cNvPicPr>
            <a:picLocks noChangeAspect="1"/>
          </p:cNvPicPr>
          <p:nvPr/>
        </p:nvPicPr>
        <p:blipFill>
          <a:blip r:embed="rId2"/>
          <a:stretch>
            <a:fillRect/>
          </a:stretch>
        </p:blipFill>
        <p:spPr>
          <a:xfrm>
            <a:off x="6888175" y="2206219"/>
            <a:ext cx="4754880" cy="1622602"/>
          </a:xfrm>
          <a:prstGeom prst="rect">
            <a:avLst/>
          </a:prstGeom>
        </p:spPr>
      </p:pic>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Join the Kahoot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kahoot_logo.png"/>
          <p:cNvPicPr>
            <a:picLocks noChangeAspect="1"/>
          </p:cNvPicPr>
          <p:nvPr/>
        </p:nvPicPr>
        <p:blipFill>
          <a:blip r:embed="rId2"/>
          <a:stretch>
            <a:fillRect/>
          </a:stretch>
        </p:blipFill>
        <p:spPr>
          <a:xfrm>
            <a:off x="9315522" y="274320"/>
            <a:ext cx="2277626" cy="777240"/>
          </a:xfrm>
          <a:prstGeom prst="rect">
            <a:avLst/>
          </a:prstGeom>
        </p:spPr>
      </p:pic>
      <p:sp>
        <p:nvSpPr>
          <p:cNvPr id="6" name="TextBox 5"/>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How to join</a:t>
            </a:r>
          </a:p>
        </p:txBody>
      </p:sp>
      <p:sp>
        <p:nvSpPr>
          <p:cNvPr id="7" name="Rectangle 6"/>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Open kahoot.it on your phone or in a new browser tab</a:t>
            </a:r>
          </a:p>
          <a:p>
            <a:pPr>
              <a:spcAft>
                <a:spcPts val="1000"/>
              </a:spcAft>
            </a:pPr>
            <a:r>
              <a:rPr sz="1800">
                <a:solidFill>
                  <a:srgbClr val="111111"/>
                </a:solidFill>
                <a:latin typeface="Calibri"/>
              </a:rPr>
              <a:t>•  Enter the game PIN shown on the shared screen</a:t>
            </a:r>
          </a:p>
          <a:p>
            <a:pPr>
              <a:spcAft>
                <a:spcPts val="1000"/>
              </a:spcAft>
            </a:pPr>
            <a:r>
              <a:rPr sz="1800">
                <a:solidFill>
                  <a:srgbClr val="111111"/>
                </a:solidFill>
                <a:latin typeface="Calibri"/>
              </a:rPr>
              <a:t>•  Nickname: your first name</a:t>
            </a:r>
          </a:p>
          <a:p>
            <a:pPr>
              <a:spcAft>
                <a:spcPts val="1000"/>
              </a:spcAft>
            </a:pPr>
            <a:r>
              <a:rPr sz="1800">
                <a:solidFill>
                  <a:srgbClr val="111111"/>
                </a:solidFill>
                <a:latin typeface="Calibri"/>
              </a:rPr>
              <a:t>•  20 seconds per question; answer on your phone</a:t>
            </a:r>
          </a:p>
        </p:txBody>
      </p:sp>
      <p:sp>
        <p:nvSpPr>
          <p:cNvPr id="9" name="TextBox 8"/>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Fair play notes</a:t>
            </a:r>
          </a:p>
        </p:txBody>
      </p:sp>
      <p:sp>
        <p:nvSpPr>
          <p:cNvPr id="10" name="Rectangle 9"/>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All four answers are about the same length. The long one is not a hint.</a:t>
            </a:r>
          </a:p>
          <a:p>
            <a:pPr>
              <a:spcAft>
                <a:spcPts val="1000"/>
              </a:spcAft>
            </a:pPr>
            <a:r>
              <a:rPr sz="1800">
                <a:solidFill>
                  <a:srgbClr val="111111"/>
                </a:solidFill>
                <a:latin typeface="Calibri"/>
              </a:rPr>
              <a:t>•  Correct answers are spread evenly over the four colours.</a:t>
            </a:r>
          </a:p>
          <a:p>
            <a:pPr>
              <a:spcAft>
                <a:spcPts val="1000"/>
              </a:spcAft>
            </a:pPr>
            <a:r>
              <a:rPr sz="1800">
                <a:solidFill>
                  <a:srgbClr val="111111"/>
                </a:solidFill>
                <a:latin typeface="Calibri"/>
              </a:rPr>
              <a:t>•  We run as many as time allows in the session</a:t>
            </a:r>
          </a:p>
          <a:p>
            <a:pPr>
              <a:spcAft>
                <a:spcPts val="1000"/>
              </a:spcAft>
            </a:pPr>
            <a:r>
              <a:rPr sz="1800">
                <a:solidFill>
                  <a:srgbClr val="111111"/>
                </a:solidFill>
                <a:latin typeface="Calibri"/>
              </a:rPr>
              <a:t>•  The rest arrive as a Kahoot challenge link for homework</a:t>
            </a:r>
          </a:p>
        </p:txBody>
      </p:sp>
      <p:sp>
        <p:nvSpPr>
          <p:cNvPr id="12" name="Rectangle 11"/>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4" name="TextBox 13"/>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115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Practical lab: map your own task</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Steps shown now, finish before Session 4</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Lab steps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1. SIPOC, trigger, end state</a:t>
            </a:r>
          </a:p>
        </p:txBody>
      </p:sp>
      <p:sp>
        <p:nvSpPr>
          <p:cNvPr id="7" name="TextBox 6"/>
          <p:cNvSpPr txBox="1"/>
          <p:nvPr/>
        </p:nvSpPr>
        <p:spPr>
          <a:xfrm>
            <a:off x="1097280" y="1737360"/>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For the course task you chose on Day 1.</a:t>
            </a:r>
          </a:p>
        </p:txBody>
      </p:sp>
      <p:sp>
        <p:nvSpPr>
          <p:cNvPr id="8" name="Rectangle 7"/>
          <p:cNvSpPr/>
          <p:nvPr/>
        </p:nvSpPr>
        <p:spPr>
          <a:xfrm>
            <a:off x="1097280" y="2231136"/>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350008"/>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276856"/>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2. Interview one colleague (15 min)</a:t>
            </a:r>
          </a:p>
        </p:txBody>
      </p:sp>
      <p:sp>
        <p:nvSpPr>
          <p:cNvPr id="11" name="TextBox 10"/>
          <p:cNvSpPr txBox="1"/>
          <p:nvPr/>
        </p:nvSpPr>
        <p:spPr>
          <a:xfrm>
            <a:off x="1097280" y="2688336"/>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Five openers from the handout. Write down every exception.</a:t>
            </a:r>
          </a:p>
        </p:txBody>
      </p:sp>
      <p:sp>
        <p:nvSpPr>
          <p:cNvPr id="12" name="Rectangle 11"/>
          <p:cNvSpPr/>
          <p:nvPr/>
        </p:nvSpPr>
        <p:spPr>
          <a:xfrm>
            <a:off x="1097280" y="3182112"/>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300984"/>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227832"/>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3 to 5. Draw it in draw.io</a:t>
            </a:r>
          </a:p>
        </p:txBody>
      </p:sp>
      <p:sp>
        <p:nvSpPr>
          <p:cNvPr id="15" name="TextBox 14"/>
          <p:cNvSpPr txBox="1"/>
          <p:nvPr/>
        </p:nvSpPr>
        <p:spPr>
          <a:xfrm>
            <a:off x="1097280" y="3639312"/>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Lanes for every actor and system; steps, decisions, hand-offs; touch time in boxes, waits on arrows, totals.</a:t>
            </a:r>
          </a:p>
        </p:txBody>
      </p:sp>
      <p:sp>
        <p:nvSpPr>
          <p:cNvPr id="16" name="Rectangle 15"/>
          <p:cNvSpPr/>
          <p:nvPr/>
        </p:nvSpPr>
        <p:spPr>
          <a:xfrm>
            <a:off x="1097280" y="4133088"/>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251960"/>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178808"/>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6. Tag the pain points</a:t>
            </a:r>
          </a:p>
        </p:txBody>
      </p:sp>
      <p:sp>
        <p:nvSpPr>
          <p:cNvPr id="19" name="TextBox 18"/>
          <p:cNvSpPr txBox="1"/>
          <p:nvPr/>
        </p:nvSpPr>
        <p:spPr>
          <a:xfrm>
            <a:off x="1097280" y="4590288"/>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REKEY, WAIT, READ, DRAFT, CHASE, RUBBER, JUDGE.</a:t>
            </a:r>
          </a:p>
        </p:txBody>
      </p:sp>
      <p:sp>
        <p:nvSpPr>
          <p:cNvPr id="20" name="Rectangle 19"/>
          <p:cNvSpPr/>
          <p:nvPr/>
        </p:nvSpPr>
        <p:spPr>
          <a:xfrm>
            <a:off x="1097280" y="5084064"/>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5202936"/>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5</a:t>
            </a:r>
          </a:p>
        </p:txBody>
      </p:sp>
      <p:sp>
        <p:nvSpPr>
          <p:cNvPr id="22" name="TextBox 21"/>
          <p:cNvSpPr txBox="1"/>
          <p:nvPr/>
        </p:nvSpPr>
        <p:spPr>
          <a:xfrm>
            <a:off x="1097280" y="5129784"/>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7 and 8. Review, then confirm</a:t>
            </a:r>
          </a:p>
        </p:txBody>
      </p:sp>
      <p:sp>
        <p:nvSpPr>
          <p:cNvPr id="23" name="TextBox 22"/>
          <p:cNvSpPr txBox="1"/>
          <p:nvPr/>
        </p:nvSpPr>
        <p:spPr>
          <a:xfrm>
            <a:off x="1097280" y="5541264"/>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Ask the map reviewer (or your assistant) for gaps; then show the map to your colleague and correct it.</a:t>
            </a:r>
          </a:p>
        </p:txBody>
      </p:sp>
      <p:sp>
        <p:nvSpPr>
          <p:cNvPr id="24" name="Rectangle 23"/>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26" name="TextBox 25"/>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Step 7: the review prompt (for any assistant)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1094415" cy="4663440"/>
          </a:xfrm>
          <a:prstGeom prst="rect">
            <a:avLst/>
          </a:prstGeom>
          <a:solidFill>
            <a:srgbClr val="F2F2F2"/>
          </a:solidFill>
          <a:ln>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45775" cy="4297680"/>
          </a:xfrm>
          <a:prstGeom prst="rect">
            <a:avLst/>
          </a:prstGeom>
          <a:noFill/>
        </p:spPr>
        <p:txBody>
          <a:bodyPr wrap="square" anchor="t" lIns="45720" rIns="45720" tIns="27432" bIns="27432">
            <a:spAutoFit/>
          </a:bodyPr>
          <a:lstStyle/>
          <a:p>
            <a:pPr algn="l"/>
            <a:r>
              <a:rPr sz="1600" b="0" i="0">
                <a:solidFill>
                  <a:srgbClr val="111111"/>
                </a:solidFill>
                <a:latin typeface="Courier New"/>
              </a:rPr>
              <a:t>This is a current-state swimlane map of a business process. List (1) any step that seems to be missing between</a:t>
            </a:r>
          </a:p>
          <a:p>
            <a:pPr algn="l"/>
            <a:r>
              <a:rPr sz="1600" b="0" i="0">
                <a:solidFill>
                  <a:srgbClr val="111111"/>
                </a:solidFill>
                <a:latin typeface="Courier New"/>
              </a:rPr>
              <a:t>two connected steps, (2) decisions that have no "no" path, and (3) the three hand-offs most likely to lose</a:t>
            </a:r>
          </a:p>
          <a:p>
            <a:pPr algn="l"/>
            <a:r>
              <a:rPr sz="1600" b="0" i="0">
                <a:solidFill>
                  <a:srgbClr val="111111"/>
                </a:solidFill>
                <a:latin typeface="Courier New"/>
              </a:rPr>
              <a:t>information. Do not suggest automation yet.</a:t>
            </a:r>
          </a:p>
          <a:p>
            <a:pPr algn="l"/>
            <a:r>
              <a:rPr sz="1600" b="0" i="0">
                <a:solidFill>
                  <a:srgbClr val="111111"/>
                </a:solidFill>
                <a:latin typeface="Courier New"/>
              </a:rPr>
              <a:t/>
            </a:r>
          </a:p>
          <a:p>
            <a:pPr algn="l"/>
            <a:r>
              <a:rPr sz="1600" b="0" i="0">
                <a:solidFill>
                  <a:srgbClr val="111111"/>
                </a:solidFill>
                <a:latin typeface="Courier New"/>
              </a:rPr>
              <a:t>[paste your step list, or upload the PNG]</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Deliverable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Your current-state swimlane (PNG and draw.io file) with SIPOC, touch and wait times, pain-point tags, the hand-off count in the title, and five lines on what the colleague interview changed. Saved as M3-current-state. Bring it to Session 4.</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Key takeaways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Automation freezes a process. Map what really happens, workarounds included, before freezing anything.</a:t>
            </a:r>
          </a:p>
          <a:p>
            <a:pPr>
              <a:spcAft>
                <a:spcPts val="1200"/>
              </a:spcAft>
            </a:pPr>
            <a:r>
              <a:rPr sz="2200">
                <a:solidFill>
                  <a:srgbClr val="111111"/>
                </a:solidFill>
                <a:latin typeface="Calibri"/>
              </a:rPr>
              <a:t>•  SIPOC fixes the boundaries; a swimlane shows actors, steps, decisions, hand-offs and waits.</a:t>
            </a:r>
          </a:p>
          <a:p>
            <a:pPr>
              <a:spcAft>
                <a:spcPts val="1200"/>
              </a:spcAft>
            </a:pPr>
            <a:r>
              <a:rPr sz="2200">
                <a:solidFill>
                  <a:srgbClr val="111111"/>
                </a:solidFill>
                <a:latin typeface="Calibri"/>
              </a:rPr>
              <a:t>•  Two numbers on every step: touch time and wait time. They decide whether routing or AI is the fix.</a:t>
            </a:r>
          </a:p>
          <a:p>
            <a:pPr>
              <a:spcAft>
                <a:spcPts val="1200"/>
              </a:spcAft>
            </a:pPr>
            <a:r>
              <a:rPr sz="2200">
                <a:solidFill>
                  <a:srgbClr val="111111"/>
                </a:solidFill>
                <a:latin typeface="Calibri"/>
              </a:rPr>
              <a:t>•  Tag pain points with one vocabulary, and mark JUDGE steps to protect the human decision.</a:t>
            </a:r>
          </a:p>
          <a:p>
            <a:pPr>
              <a:spcAft>
                <a:spcPts val="1200"/>
              </a:spcAft>
            </a:pPr>
            <a:r>
              <a:rPr sz="2200">
                <a:solidFill>
                  <a:srgbClr val="111111"/>
                </a:solidFill>
                <a:latin typeface="Calibri"/>
              </a:rPr>
              <a:t>•  Interview with 'walk me through the last one', ask 'what if', and confirm the map with the people who do the work.</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Latest reading: map before you automate (2026)</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Stop Automating Old Processes. Design New Ones Instead.</a:t>
            </a:r>
          </a:p>
        </p:txBody>
      </p:sp>
      <p:sp>
        <p:nvSpPr>
          <p:cNvPr id="6" name="TextBox 5"/>
          <p:cNvSpPr txBox="1"/>
          <p:nvPr/>
        </p:nvSpPr>
        <p:spPr>
          <a:xfrm>
            <a:off x="548640" y="169164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Harvard Business Review, by Masha Shunko and Serguei Netessine · 14 September 2026 · hbr.org/2026/09/stop-automating-old-processes-design-new-ones-instead</a:t>
            </a:r>
          </a:p>
        </p:txBody>
      </p:sp>
      <p:sp>
        <p:nvSpPr>
          <p:cNvPr id="7" name="TextBox 6"/>
          <p:cNvSpPr txBox="1"/>
          <p:nvPr/>
        </p:nvSpPr>
        <p:spPr>
          <a:xfrm>
            <a:off x="548640" y="1965960"/>
            <a:ext cx="11094415" cy="899160"/>
          </a:xfrm>
          <a:prstGeom prst="rect">
            <a:avLst/>
          </a:prstGeom>
          <a:noFill/>
        </p:spPr>
        <p:txBody>
          <a:bodyPr wrap="square" anchor="t" lIns="45720" rIns="45720" tIns="27432" bIns="27432">
            <a:spAutoFit/>
          </a:bodyPr>
          <a:lstStyle/>
          <a:p>
            <a:pPr algn="l"/>
            <a:r>
              <a:rPr sz="1300" b="0" i="0">
                <a:solidFill>
                  <a:srgbClr val="111111"/>
                </a:solidFill>
                <a:latin typeface="Calibri"/>
              </a:rPr>
              <a:t>Companies doubling AI spend still miss returns because they automate individual tasks instead of redesigning the end-to-end workflow. Today's map is the end-to-end view; Session 4 is the redesign.</a:t>
            </a:r>
          </a:p>
        </p:txBody>
      </p:sp>
      <p:sp>
        <p:nvSpPr>
          <p:cNvPr id="8" name="Rectangle 7"/>
          <p:cNvSpPr/>
          <p:nvPr/>
        </p:nvSpPr>
        <p:spPr>
          <a:xfrm>
            <a:off x="548640" y="286512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91084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Process Intelligence Landscape 2026: Mining, Orchestration, and the Agentic AI Shift</a:t>
            </a:r>
          </a:p>
        </p:txBody>
      </p:sp>
      <p:sp>
        <p:nvSpPr>
          <p:cNvPr id="10" name="TextBox 9"/>
          <p:cNvSpPr txBox="1"/>
          <p:nvPr/>
        </p:nvSpPr>
        <p:spPr>
          <a:xfrm>
            <a:off x="548640" y="327660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Kai Waehner · 22 July 2026 · kai-waehner.de/blog/2026/07/22/process-intelligence-landscape-2026-mining-orchestration-and-the-agentic-ai-shift</a:t>
            </a:r>
          </a:p>
        </p:txBody>
      </p:sp>
      <p:sp>
        <p:nvSpPr>
          <p:cNvPr id="11" name="TextBox 10"/>
          <p:cNvSpPr txBox="1"/>
          <p:nvPr/>
        </p:nvSpPr>
        <p:spPr>
          <a:xfrm>
            <a:off x="548640" y="3550920"/>
            <a:ext cx="11094415" cy="899160"/>
          </a:xfrm>
          <a:prstGeom prst="rect">
            <a:avLst/>
          </a:prstGeom>
          <a:noFill/>
        </p:spPr>
        <p:txBody>
          <a:bodyPr wrap="square" anchor="t" lIns="45720" rIns="45720" tIns="27432" bIns="27432">
            <a:spAutoFit/>
          </a:bodyPr>
          <a:lstStyle/>
          <a:p>
            <a:pPr algn="l"/>
            <a:r>
              <a:rPr sz="1300" b="0" i="0">
                <a:solidFill>
                  <a:srgbClr val="111111"/>
                </a:solidFill>
                <a:latin typeface="Calibri"/>
              </a:rPr>
              <a:t>Process mining reconstructs how work really runs from system logs, and 'most of the value lands before an agent enters the picture'. A hand-drawn current-state map is the manual version of the same idea.</a:t>
            </a:r>
          </a:p>
        </p:txBody>
      </p:sp>
      <p:sp>
        <p:nvSpPr>
          <p:cNvPr id="12" name="Rectangle 11"/>
          <p:cNvSpPr/>
          <p:nvPr/>
        </p:nvSpPr>
        <p:spPr>
          <a:xfrm>
            <a:off x="548640" y="445008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49580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2026 Work Trend Index: Agents, Human Agency, and the Opportunity for Every Organization</a:t>
            </a:r>
          </a:p>
        </p:txBody>
      </p:sp>
      <p:sp>
        <p:nvSpPr>
          <p:cNvPr id="14" name="TextBox 13"/>
          <p:cNvSpPr txBox="1"/>
          <p:nvPr/>
        </p:nvSpPr>
        <p:spPr>
          <a:xfrm>
            <a:off x="548640" y="486156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Microsoft WorkLab · 5 May 2026 · microsoft.com/en-us/worklab/work-trend-index/agents-human-agency-and-the-opportunity-for-every-organization</a:t>
            </a:r>
          </a:p>
        </p:txBody>
      </p:sp>
      <p:sp>
        <p:nvSpPr>
          <p:cNvPr id="15" name="TextBox 14"/>
          <p:cNvSpPr txBox="1"/>
          <p:nvPr/>
        </p:nvSpPr>
        <p:spPr>
          <a:xfrm>
            <a:off x="548640" y="5135880"/>
            <a:ext cx="11094415" cy="899160"/>
          </a:xfrm>
          <a:prstGeom prst="rect">
            <a:avLst/>
          </a:prstGeom>
          <a:noFill/>
        </p:spPr>
        <p:txBody>
          <a:bodyPr wrap="square" anchor="t" lIns="45720" rIns="45720" tIns="27432" bIns="27432">
            <a:spAutoFit/>
          </a:bodyPr>
          <a:lstStyle/>
          <a:p>
            <a:pPr algn="l"/>
            <a:r>
              <a:rPr sz="1300" b="0" i="0">
                <a:solidFill>
                  <a:srgbClr val="111111"/>
                </a:solidFill>
                <a:latin typeface="Calibri"/>
              </a:rPr>
              <a:t>Defining the desired outcome and designing how work flows across people and AI must come before handing work to agents; organisational factors matter more than individual skill. The JUDGE tag is where that design starts.</a:t>
            </a:r>
          </a:p>
        </p:txBody>
      </p:sp>
      <p:sp>
        <p:nvSpPr>
          <p:cNvPr id="16" name="Rectangle 1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18" name="TextBox 1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References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663440"/>
          </a:xfrm>
          <a:prstGeom prst="rect">
            <a:avLst/>
          </a:prstGeom>
          <a:noFill/>
        </p:spPr>
        <p:txBody>
          <a:bodyPr wrap="square" lIns="45720" rIns="45720">
            <a:spAutoFit/>
          </a:bodyPr>
          <a:lstStyle/>
          <a:p>
            <a:pPr>
              <a:spcAft>
                <a:spcPts val="600"/>
              </a:spcAft>
            </a:pPr>
            <a:r>
              <a:rPr sz="1400">
                <a:solidFill>
                  <a:srgbClr val="111111"/>
                </a:solidFill>
                <a:latin typeface="Calibri"/>
              </a:rPr>
              <a:t>1.  Al-Banna, A. (2026). AI Administrator, Module 3: Workflow Mapping I, The Current State. albanna-tutorials.com/ai-administrator/03_workflow_mapping_current_state.html</a:t>
            </a:r>
          </a:p>
          <a:p>
            <a:pPr>
              <a:spcAft>
                <a:spcPts val="600"/>
              </a:spcAft>
            </a:pPr>
            <a:r>
              <a:rPr sz="1400">
                <a:solidFill>
                  <a:srgbClr val="111111"/>
                </a:solidFill>
                <a:latin typeface="Calibri"/>
              </a:rPr>
              <a:t>2.  Rummler, G. A. and Brache, A. P. (2012). Improving Performance: How to Manage the White Space on the Organization Chart, 3rd ed. Jossey-Bass (origin of the swimlane 'process map' with cross-functional lanes)</a:t>
            </a:r>
          </a:p>
          <a:p>
            <a:pPr>
              <a:spcAft>
                <a:spcPts val="600"/>
              </a:spcAft>
            </a:pPr>
            <a:r>
              <a:rPr sz="1400">
                <a:solidFill>
                  <a:srgbClr val="111111"/>
                </a:solidFill>
                <a:latin typeface="Calibri"/>
              </a:rPr>
              <a:t>3.  George, M. L., Rowlands, D., Price, M. and Maxey, J. (2005). The Lean Six Sigma Pocket Toolbook. McGraw-Hill (SIPOC, value-stream and process-mapping tools)</a:t>
            </a:r>
          </a:p>
          <a:p>
            <a:pPr>
              <a:spcAft>
                <a:spcPts val="600"/>
              </a:spcAft>
            </a:pPr>
            <a:r>
              <a:rPr sz="1400">
                <a:solidFill>
                  <a:srgbClr val="111111"/>
                </a:solidFill>
                <a:latin typeface="Calibri"/>
              </a:rPr>
              <a:t>4.  Rother, M. and Shook, J. (2003). Learning to See: Value Stream Mapping to Add Value and Eliminate Muda. Lean Enterprise Institute (process time versus lead time)</a:t>
            </a:r>
          </a:p>
          <a:p>
            <a:pPr>
              <a:spcAft>
                <a:spcPts val="600"/>
              </a:spcAft>
            </a:pPr>
            <a:r>
              <a:rPr sz="1400">
                <a:solidFill>
                  <a:srgbClr val="111111"/>
                </a:solidFill>
                <a:latin typeface="Calibri"/>
              </a:rPr>
              <a:t>5.  Object Management Group (2013). Business Process Model and Notation (BPMN) 2.0.2. omg.org/spec/BPMN (the formal notation behind pools and lanes)</a:t>
            </a:r>
          </a:p>
          <a:p>
            <a:pPr>
              <a:spcAft>
                <a:spcPts val="600"/>
              </a:spcAft>
            </a:pPr>
            <a:r>
              <a:rPr sz="1400">
                <a:solidFill>
                  <a:srgbClr val="111111"/>
                </a:solidFill>
                <a:latin typeface="Calibri"/>
              </a:rPr>
              <a:t>6.  draw.io / diagrams.net documentation: swimlanes and containers. drawio.com/doc</a:t>
            </a:r>
          </a:p>
          <a:p>
            <a:pPr>
              <a:spcAft>
                <a:spcPts val="600"/>
              </a:spcAft>
            </a:pPr>
            <a:r>
              <a:rPr sz="1400">
                <a:solidFill>
                  <a:srgbClr val="111111"/>
                </a:solidFill>
                <a:latin typeface="Calibri"/>
              </a:rPr>
              <a:t>7.  Hermes Agent documentation and source (Nous Research, MIT licence). hermes-agent.nousresearch.com/docs · github.com/NousResearch/hermes-agent</a:t>
            </a:r>
          </a:p>
          <a:p>
            <a:pPr>
              <a:spcAft>
                <a:spcPts val="600"/>
              </a:spcAft>
            </a:pPr>
            <a:r>
              <a:rPr sz="1400">
                <a:solidFill>
                  <a:srgbClr val="111111"/>
                </a:solidFill>
                <a:latin typeface="Calibri"/>
              </a:rPr>
              <a:t>8.  IEEE CS Region 8 AI Caravan (2026). AI Administrator Track Curriculum. aicaravan.org</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Image credits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663440"/>
          </a:xfrm>
          <a:prstGeom prst="rect">
            <a:avLst/>
          </a:prstGeom>
          <a:noFill/>
        </p:spPr>
        <p:txBody>
          <a:bodyPr wrap="square" lIns="45720" rIns="45720">
            <a:spAutoFit/>
          </a:bodyPr>
          <a:lstStyle/>
          <a:p>
            <a:pPr>
              <a:spcAft>
                <a:spcPts val="600"/>
              </a:spcAft>
            </a:pPr>
            <a:r>
              <a:rPr sz="1400">
                <a:solidFill>
                  <a:srgbClr val="111111"/>
                </a:solidFill>
                <a:latin typeface="Calibri"/>
              </a:rPr>
              <a:t>1.  KUKA Industrial Robots IR.jpg: Mixabest, CC BY-SA 3.0 (creativecommons.org/licenses/by-sa/3.0). commons.wikimedia.org/wiki/File:KUKA_Industrial_Robots_IR.jpg</a:t>
            </a:r>
          </a:p>
          <a:p>
            <a:pPr>
              <a:spcAft>
                <a:spcPts val="600"/>
              </a:spcAft>
            </a:pPr>
            <a:r>
              <a:rPr sz="1400">
                <a:solidFill>
                  <a:srgbClr val="111111"/>
                </a:solidFill>
                <a:latin typeface="Calibri"/>
              </a:rPr>
              <a:t>2.  Value Stream Mapping map 015.jpg: Adrian Grycuk, CC BY-SA 3.0 PL (creativecommons.org/licenses/by-sa/3.0/pl/deed.en). commons.wikimedia.org/wiki/File:Value_Stream_Mapping_map_015.jpg</a:t>
            </a:r>
          </a:p>
          <a:p>
            <a:pPr>
              <a:spcAft>
                <a:spcPts val="600"/>
              </a:spcAft>
            </a:pPr>
            <a:r>
              <a:rPr sz="1400">
                <a:solidFill>
                  <a:srgbClr val="111111"/>
                </a:solidFill>
                <a:latin typeface="Calibri"/>
              </a:rPr>
              <a:t>3.  Audit-flow.svg: Foundation for Public Code, CC0 (creativecommons.org/publicdomain/zero/1.0/deed.en). commons.wikimedia.org/wiki/File:Audit-flow.svg</a:t>
            </a:r>
          </a:p>
          <a:p>
            <a:pPr>
              <a:spcAft>
                <a:spcPts val="600"/>
              </a:spcAft>
            </a:pPr>
            <a:r>
              <a:rPr sz="1400">
                <a:solidFill>
                  <a:srgbClr val="111111"/>
                </a:solidFill>
                <a:latin typeface="Calibri"/>
              </a:rPr>
              <a:t>4.  Bandejas de correo.jpg: B25es, CC BY-SA 4.0 (creativecommons.org/licenses/by-sa/4.0). commons.wikimedia.org/wiki/File:Bandejas_de_correo.jpg</a:t>
            </a:r>
          </a:p>
          <a:p>
            <a:pPr>
              <a:spcAft>
                <a:spcPts val="600"/>
              </a:spcAft>
            </a:pPr>
            <a:r>
              <a:rPr sz="1400">
                <a:solidFill>
                  <a:srgbClr val="111111"/>
                </a:solidFill>
                <a:latin typeface="Calibri"/>
              </a:rPr>
              <a:t>5.  Hyundai car assembly line.jpg: Anonyme (Wikimedia Commons user), CC BY 2.5 (creativecommons.org/licenses/by/2.5). commons.wikimedia.org/wiki/File:Hyundai_car_assembly_line.jpg</a:t>
            </a:r>
          </a:p>
          <a:p>
            <a:pPr>
              <a:spcAft>
                <a:spcPts val="600"/>
              </a:spcAft>
            </a:pPr>
            <a:r>
              <a:rPr sz="1400">
                <a:solidFill>
                  <a:srgbClr val="111111"/>
                </a:solidFill>
                <a:latin typeface="Calibri"/>
              </a:rPr>
              <a:t>6.  Legal Contract &amp; Signature - Warm Tones.jpg: Blogtrepreneur, CC BY 2.0 (creativecommons.org/licenses/by/2.0). commons.wikimedia.org/wiki/File:Legal_Contract_%26_Signature_-_Warm_Tones.jpg</a:t>
            </a:r>
          </a:p>
          <a:p>
            <a:pPr>
              <a:spcAft>
                <a:spcPts val="600"/>
              </a:spcAft>
            </a:pPr>
            <a:r>
              <a:rPr sz="1400">
                <a:solidFill>
                  <a:srgbClr val="111111"/>
                </a:solidFill>
                <a:latin typeface="Calibri"/>
              </a:rPr>
              <a:t>7.  Job Interview - 38630953066.jpg: amtec_photos (Amtec Photos, https://www.amtec.us.com), CC BY-SA 2.0 (creativecommons.org/licenses/by-sa/2.0). commons.wikimedia.org/wiki/File:Job_Interview_-_38630953066.jpg</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2 · Session 3</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