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Day 3. One-sentence promise: by the end of these two hours everyone has an n8n workspace, has watched the leave request from Session 4 run as a real workflow, and has built and tested their own first automation. Still no code for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everyone to have two things ready: an e-mail inbox they can open now, and their M4-future-state file. We open n8n together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deliverable is the lab: a published request-intake workflow with three test runs, plus the exported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on screen. The lab is in the session this time, not homework: forty minutes in breakout rooms.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co-host posts n8n.io/pricing and Day3_S5_n8n_Signup_Sheet.pdf in the chat now. You sign up on screen at the same pace.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slowly; do every click yourself on screen. At minute 12 ask for a Raise Hand from anyone who is not yet on the 'Let's build your first automation' page; the co-host takes them to the breakout room.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animated preview below the button is a sample workflow; ignore it for now. Some participants will see the AI Assistant ask questions first; skipping is fine.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counter. 1,000 executions is plenty for the course if nobody publishes a schedule that runs every minute.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the one thing everyone remembers. We repeat it at the close of every n8n session. If the course ran past 14 days, exported JSON is what lets them continue in a new trial.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the menu is now, even with an empty workflow. Settings in the same menu is where the error workflow is chosen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of concepts, each tied to a screen they now have open.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has the full table. The skills transfer: every one of these has triggers, actions, data mapping, conditions and credentials. We use n8n because it can also run on your own server, which matters for data that must not leave the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clicks Build a workflow now. We do not use the AI builder today: you should know what each node does before you let anything generate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list. The trigger answers 'when does this run?'. Today's trigger is On form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event needs a second workflow, or a trigger that covers both. Quiz question.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useful idea in n8n. Many 'it sent 40 e-mails' accidents come from forgetting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output of the leave form. Point at '1 item' above the JSON. Fields are what you drag into the next node.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from the module: least privilege, a shared or service account for production work, never paste a key into a node field or a sticky note.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error from preparing this session. Two causes: a different Google account, or an unticked box on Google's consent screen. Fix: open the credential, Switch account, same account as the sheet, tick every box. And the sheet must be a native Google Sheet, not an uploaded .xlsx.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window with the prepared workspace. Participants watch; they do not build this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Session 4. Ask the chat: which Session 4 candidate is this? (Candidates 2 and 3: look up the balance, run the policy checks, prepare the decision card.)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Imported from Day3_S5_Leave_Request_Demo.json. The sticky note says what the workflow is for; a good habit.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Production URL to show the second address. The form is hosted by n8n; nothing to install.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 Omar Khalil, Annual leave, 15 to 17 November, your own address as manager. Then go back to the editor.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is that every rule here is one sentence from the leave policy (HR-POL-02): exactly the green steps of Session 4. Session 6 adds the amber step (reading the free-text note).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'Convert types where required'. Then run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your inbox and show the decision card. The manager still decides: the workflow prepared, it did not approve.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 asks for tomorrow with one day's notice; Lina asks for 3 days with 2 left. The Executions tab is the audit log: click any run to see exactly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sheet stands in for the HR portal. Note what changed from Session 3: no re-typing, the checks are done before the manager sees anything, and HR only sees the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back to the prioritisation matrix: we built the high value, low risk candidates first.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co-host prepares breakout rooms of three or four, mixing faster and slower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co-host posts Day3_S5_Lab_Handout.pdf and Day3_S5_Requests_Template.xlsx. Open the rooms at minute 63.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follow the module. Rooms of three or four: one shares their screen, all build in their own workspace.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is corrected from the module text; next slide. 'Activate' in the module is 'Publish' in today's n8n.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found this by running the lab ourselves. It is a good lesson in itself: test the empty case, do not assume. The module text will be updated to match.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participant makes every field required, the guard never fires. That is fine in real life; for the lab, leave Amount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file Day3_S5_Request_Intake_Solution.json is shared after the session, not during the lab.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each room should show the co-host before minute 100.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instructors rotate through the rooms. Most common issues: wrong Google account (403), uploaded .xlsx, forgetting to click Execute before submitting the test form, IF set to String instead of Number.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in the main room. Eight minutes.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Error' below it decides what happens after the last try: stop the workflow (default) or continue.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automation that fails silently is worse than no automation: people stop checking because they think it works.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and older tutorials say 'Activate'; today's n8n says Publish. Same idea.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kahoot imported from Day3_S5_Kahoot.xlsx; PIN on screen.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with all 20 questions: Day3_S5_Kahoot_Answer_Key.pdf.</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Anyone who did not finish completes it before Session 6; the solution JSON is shared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Wait twenty seconds while they do it. Ask for a thumbs-up reaction in Zoom when done.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Session 6: the same request intake gets an AI step that classifies the description, with an 'unsure' route to a person.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two minutes or self-study. Checked on 11 October 2026; instructors may swap in newer pieces, keeping source, date and a one-line takeaway tied to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on screen during questions. All n8n screens are real screenshots; AI Caravan Ltd., its employees and its leave policy are fictional.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strip.png"/>
          <p:cNvPicPr>
            <a:picLocks noChangeAspect="1"/>
          </p:cNvPicPr>
          <p:nvPr/>
        </p:nvPicPr>
        <p:blipFill>
          <a:blip r:embed="rId2"/>
          <a:stretch>
            <a:fillRect/>
          </a:stretch>
        </p:blipFill>
        <p:spPr>
          <a:xfrm>
            <a:off x="2943333" y="411480"/>
            <a:ext cx="6305028" cy="1005840"/>
          </a:xfrm>
          <a:prstGeom prst="rect">
            <a:avLst/>
          </a:prstGeom>
        </p:spPr>
      </p:pic>
      <p:sp>
        <p:nvSpPr>
          <p:cNvPr id="3" name="Rectangle 2"/>
          <p:cNvSpPr/>
          <p:nvPr/>
        </p:nvSpPr>
        <p:spPr>
          <a:xfrm>
            <a:off x="548640" y="27432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880360"/>
            <a:ext cx="11094415" cy="1280160"/>
          </a:xfrm>
          <a:prstGeom prst="rect">
            <a:avLst/>
          </a:prstGeom>
          <a:noFill/>
        </p:spPr>
        <p:txBody>
          <a:bodyPr wrap="square" anchor="t" lIns="45720" rIns="45720" tIns="27432" bIns="27432">
            <a:spAutoFit/>
          </a:bodyPr>
          <a:lstStyle/>
          <a:p>
            <a:pPr algn="l"/>
            <a:r>
              <a:rPr sz="4000" b="1" i="0">
                <a:solidFill>
                  <a:srgbClr val="111111"/>
                </a:solidFill>
                <a:latin typeface="Calibri"/>
              </a:rPr>
              <a:t>Automation Basics with n8n</a:t>
            </a:r>
          </a:p>
        </p:txBody>
      </p:sp>
      <p:sp>
        <p:nvSpPr>
          <p:cNvPr id="5" name="TextBox 4"/>
          <p:cNvSpPr txBox="1"/>
          <p:nvPr/>
        </p:nvSpPr>
        <p:spPr>
          <a:xfrm>
            <a:off x="548640" y="416052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AI Administrator: Agentic Workflows &amp; Automation · Day 3 · Session 5</a:t>
            </a:r>
          </a:p>
        </p:txBody>
      </p:sp>
      <p:sp>
        <p:nvSpPr>
          <p:cNvPr id="6" name="TextBox 5"/>
          <p:cNvSpPr txBox="1"/>
          <p:nvPr/>
        </p:nvSpPr>
        <p:spPr>
          <a:xfrm>
            <a:off x="548640" y="5120640"/>
            <a:ext cx="11094415" cy="457200"/>
          </a:xfrm>
          <a:prstGeom prst="rect">
            <a:avLst/>
          </a:prstGeom>
          <a:noFill/>
        </p:spPr>
        <p:txBody>
          <a:bodyPr wrap="square" anchor="t" lIns="45720" rIns="45720" tIns="27432" bIns="27432">
            <a:spAutoFit/>
          </a:bodyPr>
          <a:lstStyle/>
          <a:p>
            <a:pPr algn="l"/>
            <a:r>
              <a:rPr sz="1600" b="0" i="0">
                <a:solidFill>
                  <a:srgbClr val="111111"/>
                </a:solidFill>
                <a:latin typeface="Calibri"/>
              </a:rPr>
              <a:t>Lead instructors: Mousa AL-Akhras, Mohammed Abdelmajeed</a:t>
            </a:r>
          </a:p>
        </p:txBody>
      </p:sp>
      <p:sp>
        <p:nvSpPr>
          <p:cNvPr id="7" name="TextBox 6"/>
          <p:cNvSpPr txBox="1"/>
          <p:nvPr/>
        </p:nvSpPr>
        <p:spPr>
          <a:xfrm>
            <a:off x="548640" y="5532120"/>
            <a:ext cx="11094415" cy="457200"/>
          </a:xfrm>
          <a:prstGeom prst="rect">
            <a:avLst/>
          </a:prstGeom>
          <a:noFill/>
        </p:spPr>
        <p:txBody>
          <a:bodyPr wrap="square" anchor="t" lIns="45720" rIns="45720" tIns="27432" bIns="27432">
            <a:spAutoFit/>
          </a:bodyPr>
          <a:lstStyle/>
          <a:p>
            <a:pPr algn="l"/>
            <a:r>
              <a:rPr sz="1300" b="0" i="0">
                <a:solidFill>
                  <a:srgbClr val="666666"/>
                </a:solidFill>
                <a:latin typeface="Calibri"/>
              </a:rPr>
              <a:t>120 minutes · Module online: albanna-tutorials.com/ai-administrator/05_automation_basics_n8n.html</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Where this session sits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ahoot_logo.png"/>
          <p:cNvPicPr>
            <a:picLocks noChangeAspect="1"/>
          </p:cNvPicPr>
          <p:nvPr/>
        </p:nvPicPr>
        <p:blipFill>
          <a:blip r:embed="rId2"/>
          <a:stretch>
            <a:fillRect/>
          </a:stretch>
        </p:blipFill>
        <p:spPr>
          <a:xfrm>
            <a:off x="9315522" y="274320"/>
            <a:ext cx="2277626" cy="777240"/>
          </a:xfrm>
          <a:prstGeom prst="rect">
            <a:avLst/>
          </a:prstGeom>
        </p:spPr>
      </p:pic>
      <p:sp>
        <p:nvSpPr>
          <p:cNvPr id="6" name="TextBox 5"/>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Session 3: the leave request mapped as it really runs (25 minutes of work, about 4 days of waiting, 8 hand-offs)</a:t>
            </a:r>
          </a:p>
          <a:p>
            <a:pPr>
              <a:spcAft>
                <a:spcPts val="1200"/>
              </a:spcAft>
            </a:pPr>
            <a:r>
              <a:rPr sz="2200">
                <a:solidFill>
                  <a:srgbClr val="111111"/>
                </a:solidFill>
                <a:latin typeface="Calibri"/>
              </a:rPr>
              <a:t>•  Session 4: the future state, an Automation lane, and one chosen first build</a:t>
            </a:r>
          </a:p>
          <a:p>
            <a:pPr>
              <a:spcAft>
                <a:spcPts val="1200"/>
              </a:spcAft>
            </a:pPr>
            <a:r>
              <a:rPr sz="2200">
                <a:solidFill>
                  <a:srgbClr val="111111"/>
                </a:solidFill>
                <a:latin typeface="Calibri"/>
              </a:rPr>
              <a:t>•  Session 5 (now): that first build, running in n8n, and your own first workflow</a:t>
            </a:r>
          </a:p>
          <a:p>
            <a:pPr>
              <a:spcAft>
                <a:spcPts val="1200"/>
              </a:spcAft>
            </a:pPr>
            <a:r>
              <a:rPr sz="2200">
                <a:solidFill>
                  <a:srgbClr val="111111"/>
                </a:solidFill>
                <a:latin typeface="Calibri"/>
              </a:rPr>
              <a:t>•  Session 6: AI steps inside the workflow (classify, extract, draft)</a:t>
            </a:r>
          </a:p>
          <a:p>
            <a:pPr>
              <a:spcAft>
                <a:spcPts val="1200"/>
              </a:spcAft>
            </a:pPr>
            <a:r>
              <a:rPr sz="2200">
                <a:solidFill>
                  <a:srgbClr val="111111"/>
                </a:solidFill>
                <a:latin typeface="Calibri"/>
              </a:rPr>
              <a:t>•  At minute 108: a 20-question Kahoot. Keep your phone handy.</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you will be able to do after this session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ahoot_logo.png"/>
          <p:cNvPicPr>
            <a:picLocks noChangeAspect="1"/>
          </p:cNvPicPr>
          <p:nvPr/>
        </p:nvPicPr>
        <p:blipFill>
          <a:blip r:embed="rId2"/>
          <a:stretch>
            <a:fillRect/>
          </a:stretch>
        </p:blipFill>
        <p:spPr>
          <a:xfrm>
            <a:off x="9315522" y="274320"/>
            <a:ext cx="2277626" cy="777240"/>
          </a:xfrm>
          <a:prstGeom prst="rect">
            <a:avLst/>
          </a:prstGeom>
        </p:spPr>
      </p:pic>
      <p:sp>
        <p:nvSpPr>
          <p:cNvPr id="6" name="TextBox 5"/>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Open an n8n trial and keep your work safe (export every day)</a:t>
            </a:r>
          </a:p>
          <a:p>
            <a:pPr>
              <a:spcAft>
                <a:spcPts val="1200"/>
              </a:spcAft>
            </a:pPr>
            <a:r>
              <a:rPr sz="2200">
                <a:solidFill>
                  <a:srgbClr val="111111"/>
                </a:solidFill>
                <a:latin typeface="Calibri"/>
              </a:rPr>
              <a:t>•  Say what an automation platform does, and how n8n differs from Make, Zapier and Power Automate</a:t>
            </a:r>
          </a:p>
          <a:p>
            <a:pPr>
              <a:spcAft>
                <a:spcPts val="1200"/>
              </a:spcAft>
            </a:pPr>
            <a:r>
              <a:rPr sz="2200">
                <a:solidFill>
                  <a:srgbClr val="111111"/>
                </a:solidFill>
                <a:latin typeface="Calibri"/>
              </a:rPr>
              <a:t>•  Tell a trigger from an action, and follow items from node to node</a:t>
            </a:r>
          </a:p>
          <a:p>
            <a:pPr>
              <a:spcAft>
                <a:spcPts val="1200"/>
              </a:spcAft>
            </a:pPr>
            <a:r>
              <a:rPr sz="2200">
                <a:solidFill>
                  <a:srgbClr val="111111"/>
                </a:solidFill>
                <a:latin typeface="Calibri"/>
              </a:rPr>
              <a:t>•  Read a workflow against a future-state map</a:t>
            </a:r>
          </a:p>
          <a:p>
            <a:pPr>
              <a:spcAft>
                <a:spcPts val="1200"/>
              </a:spcAft>
            </a:pPr>
            <a:r>
              <a:rPr sz="2200">
                <a:solidFill>
                  <a:srgbClr val="111111"/>
                </a:solidFill>
                <a:latin typeface="Calibri"/>
              </a:rPr>
              <a:t>•  Build, test and publish a Form, Sheets, IF and Gmail workflow</a:t>
            </a:r>
          </a:p>
          <a:p>
            <a:pPr>
              <a:spcAft>
                <a:spcPts val="1200"/>
              </a:spcAft>
            </a:pPr>
            <a:r>
              <a:rPr sz="2200">
                <a:solidFill>
                  <a:srgbClr val="111111"/>
                </a:solidFill>
                <a:latin typeface="Calibri"/>
              </a:rPr>
              <a:t>•  Add a guard, Retry on Fail and an error workflow</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Run of show (120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466344">
                <a:tc>
                  <a:txBody>
                    <a:bodyPr/>
                    <a:lstStyle/>
                    <a:p>
                      <a:r>
                        <a:rPr b="1" sz="1200">
                          <a:solidFill>
                            <a:srgbClr val="111111"/>
                          </a:solidFill>
                          <a:latin typeface="Calibri"/>
                        </a:rPr>
                        <a:t>Minutes</a:t>
                      </a:r>
                    </a:p>
                  </a:txBody>
                  <a:tcPr>
                    <a:solidFill>
                      <a:srgbClr val="F2F2F2"/>
                    </a:solidFill>
                  </a:tcPr>
                </a:tc>
                <a:tc>
                  <a:txBody>
                    <a:bodyPr/>
                    <a:lstStyle/>
                    <a:p>
                      <a:r>
                        <a:rPr b="1" sz="1200">
                          <a:solidFill>
                            <a:srgbClr val="111111"/>
                          </a:solidFill>
                          <a:latin typeface="Calibri"/>
                        </a:rPr>
                        <a:t>Block</a:t>
                      </a:r>
                    </a:p>
                  </a:txBody>
                  <a:tcPr>
                    <a:solidFill>
                      <a:srgbClr val="F2F2F2"/>
                    </a:solidFill>
                  </a:tcPr>
                </a:tc>
                <a:tc>
                  <a:txBody>
                    <a:bodyPr/>
                    <a:lstStyle/>
                    <a:p>
                      <a:r>
                        <a:rPr b="1" sz="1200">
                          <a:solidFill>
                            <a:srgbClr val="111111"/>
                          </a:solidFill>
                          <a:latin typeface="Calibri"/>
                        </a:rPr>
                        <a:t>What happens</a:t>
                      </a:r>
                    </a:p>
                  </a:txBody>
                  <a:tcPr>
                    <a:solidFill>
                      <a:srgbClr val="F2F2F2"/>
                    </a:solidFill>
                  </a:tcPr>
                </a:tc>
              </a:tr>
              <a:tr h="466344">
                <a:tc>
                  <a:txBody>
                    <a:bodyPr/>
                    <a:lstStyle/>
                    <a:p>
                      <a:r>
                        <a:rPr sz="1200" b="0">
                          <a:solidFill>
                            <a:srgbClr val="111111"/>
                          </a:solidFill>
                          <a:latin typeface="Calibri"/>
                        </a:rPr>
                        <a:t>0 to 5</a:t>
                      </a:r>
                    </a:p>
                  </a:txBody>
                  <a:tcPr marT="45720" marB="45720">
                    <a:solidFill>
                      <a:srgbClr val="FFFFFF"/>
                    </a:solidFill>
                  </a:tcPr>
                </a:tc>
                <a:tc>
                  <a:txBody>
                    <a:bodyPr/>
                    <a:lstStyle/>
                    <a:p>
                      <a:r>
                        <a:rPr sz="1200" b="0">
                          <a:solidFill>
                            <a:srgbClr val="111111"/>
                          </a:solidFill>
                          <a:latin typeface="Calibri"/>
                        </a:rPr>
                        <a:t>Welcome</a:t>
                      </a:r>
                    </a:p>
                  </a:txBody>
                  <a:tcPr marT="45720" marB="45720">
                    <a:solidFill>
                      <a:srgbClr val="FFFFFF"/>
                    </a:solidFill>
                  </a:tcPr>
                </a:tc>
                <a:tc>
                  <a:txBody>
                    <a:bodyPr/>
                    <a:lstStyle/>
                    <a:p>
                      <a:r>
                        <a:rPr sz="1200" b="0">
                          <a:solidFill>
                            <a:srgbClr val="111111"/>
                          </a:solidFill>
                          <a:latin typeface="Calibri"/>
                        </a:rPr>
                        <a:t>Where we are, objectives</a:t>
                      </a:r>
                    </a:p>
                  </a:txBody>
                  <a:tcPr marT="45720" marB="45720">
                    <a:solidFill>
                      <a:srgbClr val="FFFFFF"/>
                    </a:solidFill>
                  </a:tcPr>
                </a:tc>
              </a:tr>
              <a:tr h="466344">
                <a:tc>
                  <a:txBody>
                    <a:bodyPr/>
                    <a:lstStyle/>
                    <a:p>
                      <a:r>
                        <a:rPr sz="1200" b="0">
                          <a:solidFill>
                            <a:srgbClr val="111111"/>
                          </a:solidFill>
                          <a:latin typeface="Calibri"/>
                        </a:rPr>
                        <a:t>5 to 20</a:t>
                      </a:r>
                    </a:p>
                  </a:txBody>
                  <a:tcPr marT="45720" marB="45720">
                    <a:solidFill>
                      <a:srgbClr val="FFFFFF"/>
                    </a:solidFill>
                  </a:tcPr>
                </a:tc>
                <a:tc>
                  <a:txBody>
                    <a:bodyPr/>
                    <a:lstStyle/>
                    <a:p>
                      <a:r>
                        <a:rPr sz="1200" b="0">
                          <a:solidFill>
                            <a:srgbClr val="111111"/>
                          </a:solidFill>
                          <a:latin typeface="Calibri"/>
                        </a:rPr>
                        <a:t>Sign up together</a:t>
                      </a:r>
                    </a:p>
                  </a:txBody>
                  <a:tcPr marT="45720" marB="45720">
                    <a:solidFill>
                      <a:srgbClr val="FFFFFF"/>
                    </a:solidFill>
                  </a:tcPr>
                </a:tc>
                <a:tc>
                  <a:txBody>
                    <a:bodyPr/>
                    <a:lstStyle/>
                    <a:p>
                      <a:r>
                        <a:rPr sz="1200" b="0">
                          <a:solidFill>
                            <a:srgbClr val="111111"/>
                          </a:solidFill>
                          <a:latin typeface="Calibri"/>
                        </a:rPr>
                        <a:t>n8n Cloud trial, step by step; a breakout room for anyone stuck</a:t>
                      </a:r>
                    </a:p>
                  </a:txBody>
                  <a:tcPr marT="45720" marB="45720">
                    <a:solidFill>
                      <a:srgbClr val="FFFFFF"/>
                    </a:solidFill>
                  </a:tcPr>
                </a:tc>
              </a:tr>
              <a:tr h="466344">
                <a:tc>
                  <a:txBody>
                    <a:bodyPr/>
                    <a:lstStyle/>
                    <a:p>
                      <a:r>
                        <a:rPr sz="1200" b="0">
                          <a:solidFill>
                            <a:srgbClr val="111111"/>
                          </a:solidFill>
                          <a:latin typeface="Calibri"/>
                        </a:rPr>
                        <a:t>20 to 35</a:t>
                      </a:r>
                    </a:p>
                  </a:txBody>
                  <a:tcPr marT="45720" marB="45720">
                    <a:solidFill>
                      <a:srgbClr val="FFFFFF"/>
                    </a:solidFill>
                  </a:tcPr>
                </a:tc>
                <a:tc>
                  <a:txBody>
                    <a:bodyPr/>
                    <a:lstStyle/>
                    <a:p>
                      <a:r>
                        <a:rPr sz="1200" b="0">
                          <a:solidFill>
                            <a:srgbClr val="111111"/>
                          </a:solidFill>
                          <a:latin typeface="Calibri"/>
                        </a:rPr>
                        <a:t>What an automation platform is</a:t>
                      </a:r>
                    </a:p>
                  </a:txBody>
                  <a:tcPr marT="45720" marB="45720">
                    <a:solidFill>
                      <a:srgbClr val="FFFFFF"/>
                    </a:solidFill>
                  </a:tcPr>
                </a:tc>
                <a:tc>
                  <a:txBody>
                    <a:bodyPr/>
                    <a:lstStyle/>
                    <a:p>
                      <a:r>
                        <a:rPr sz="1200" b="0">
                          <a:solidFill>
                            <a:srgbClr val="111111"/>
                          </a:solidFill>
                          <a:latin typeface="Calibri"/>
                        </a:rPr>
                        <a:t>Four platforms; triggers, actions, items; credentials</a:t>
                      </a:r>
                    </a:p>
                  </a:txBody>
                  <a:tcPr marT="45720" marB="45720">
                    <a:solidFill>
                      <a:srgbClr val="FFFFFF"/>
                    </a:solidFill>
                  </a:tcPr>
                </a:tc>
              </a:tr>
              <a:tr h="466344">
                <a:tc>
                  <a:txBody>
                    <a:bodyPr/>
                    <a:lstStyle/>
                    <a:p>
                      <a:r>
                        <a:rPr sz="1200" b="0">
                          <a:solidFill>
                            <a:srgbClr val="111111"/>
                          </a:solidFill>
                          <a:latin typeface="Calibri"/>
                        </a:rPr>
                        <a:t>35 to 55</a:t>
                      </a:r>
                    </a:p>
                  </a:txBody>
                  <a:tcPr marT="45720" marB="45720">
                    <a:solidFill>
                      <a:srgbClr val="FFFFFF"/>
                    </a:solidFill>
                  </a:tcPr>
                </a:tc>
                <a:tc>
                  <a:txBody>
                    <a:bodyPr/>
                    <a:lstStyle/>
                    <a:p>
                      <a:r>
                        <a:rPr sz="1200" b="0">
                          <a:solidFill>
                            <a:srgbClr val="111111"/>
                          </a:solidFill>
                          <a:latin typeface="Calibri"/>
                        </a:rPr>
                        <a:t>Demo: the leave request runs</a:t>
                      </a:r>
                    </a:p>
                  </a:txBody>
                  <a:tcPr marT="45720" marB="45720">
                    <a:solidFill>
                      <a:srgbClr val="FFFFFF"/>
                    </a:solidFill>
                  </a:tcPr>
                </a:tc>
                <a:tc>
                  <a:txBody>
                    <a:bodyPr/>
                    <a:lstStyle/>
                    <a:p>
                      <a:r>
                        <a:rPr sz="1200" b="0">
                          <a:solidFill>
                            <a:srgbClr val="111111"/>
                          </a:solidFill>
                          <a:latin typeface="Calibri"/>
                        </a:rPr>
                        <a:t>One step, one node; three test runs; the Executions log</a:t>
                      </a:r>
                    </a:p>
                  </a:txBody>
                  <a:tcPr marT="45720" marB="45720">
                    <a:solidFill>
                      <a:srgbClr val="FFFFFF"/>
                    </a:solidFill>
                  </a:tcPr>
                </a:tc>
              </a:tr>
              <a:tr h="466344">
                <a:tc>
                  <a:txBody>
                    <a:bodyPr/>
                    <a:lstStyle/>
                    <a:p>
                      <a:r>
                        <a:rPr sz="1200" b="0">
                          <a:solidFill>
                            <a:srgbClr val="111111"/>
                          </a:solidFill>
                          <a:latin typeface="Calibri"/>
                        </a:rPr>
                        <a:t>55 to 60</a:t>
                      </a:r>
                    </a:p>
                  </a:txBody>
                  <a:tcPr marT="45720" marB="45720">
                    <a:solidFill>
                      <a:srgbClr val="FFFFFF"/>
                    </a:solidFill>
                  </a:tcPr>
                </a:tc>
                <a:tc>
                  <a:txBody>
                    <a:bodyPr/>
                    <a:lstStyle/>
                    <a:p>
                      <a:r>
                        <a:rPr sz="1200" b="0">
                          <a:solidFill>
                            <a:srgbClr val="111111"/>
                          </a:solidFill>
                          <a:latin typeface="Calibri"/>
                        </a:rPr>
                        <a:t>Break</a:t>
                      </a:r>
                    </a:p>
                  </a:txBody>
                  <a:tcPr marT="45720" marB="45720">
                    <a:solidFill>
                      <a:srgbClr val="FFFFFF"/>
                    </a:solidFill>
                  </a:tcPr>
                </a:tc>
                <a:tc>
                  <a:txBody>
                    <a:bodyPr/>
                    <a:lstStyle/>
                    <a:p/>
                  </a:txBody>
                  <a:tcPr marT="45720" marB="45720">
                    <a:solidFill>
                      <a:srgbClr val="FFFFFF"/>
                    </a:solidFill>
                  </a:tcPr>
                </a:tc>
              </a:tr>
              <a:tr h="466344">
                <a:tc>
                  <a:txBody>
                    <a:bodyPr/>
                    <a:lstStyle/>
                    <a:p>
                      <a:r>
                        <a:rPr sz="1200" b="0">
                          <a:solidFill>
                            <a:srgbClr val="111111"/>
                          </a:solidFill>
                          <a:latin typeface="Calibri"/>
                        </a:rPr>
                        <a:t>60 to 100</a:t>
                      </a:r>
                    </a:p>
                  </a:txBody>
                  <a:tcPr marT="45720" marB="45720">
                    <a:solidFill>
                      <a:srgbClr val="FFFFFF"/>
                    </a:solidFill>
                  </a:tcPr>
                </a:tc>
                <a:tc>
                  <a:txBody>
                    <a:bodyPr/>
                    <a:lstStyle/>
                    <a:p>
                      <a:r>
                        <a:rPr sz="1200" b="0">
                          <a:solidFill>
                            <a:srgbClr val="111111"/>
                          </a:solidFill>
                          <a:latin typeface="Calibri"/>
                        </a:rPr>
                        <a:t>Lab: request intake</a:t>
                      </a:r>
                    </a:p>
                  </a:txBody>
                  <a:tcPr marT="45720" marB="45720">
                    <a:solidFill>
                      <a:srgbClr val="FFFFFF"/>
                    </a:solidFill>
                  </a:tcPr>
                </a:tc>
                <a:tc>
                  <a:txBody>
                    <a:bodyPr/>
                    <a:lstStyle/>
                    <a:p>
                      <a:r>
                        <a:rPr sz="1200" b="0">
                          <a:solidFill>
                            <a:srgbClr val="111111"/>
                          </a:solidFill>
                          <a:latin typeface="Calibri"/>
                        </a:rPr>
                        <a:t>Build in breakout rooms; form, sheet, IF, two e-mails, guard</a:t>
                      </a:r>
                    </a:p>
                  </a:txBody>
                  <a:tcPr marT="45720" marB="45720">
                    <a:solidFill>
                      <a:srgbClr val="FFFFFF"/>
                    </a:solidFill>
                  </a:tcPr>
                </a:tc>
              </a:tr>
              <a:tr h="466344">
                <a:tc>
                  <a:txBody>
                    <a:bodyPr/>
                    <a:lstStyle/>
                    <a:p>
                      <a:r>
                        <a:rPr sz="1200" b="0">
                          <a:solidFill>
                            <a:srgbClr val="111111"/>
                          </a:solidFill>
                          <a:latin typeface="Calibri"/>
                        </a:rPr>
                        <a:t>100 to 108</a:t>
                      </a:r>
                    </a:p>
                  </a:txBody>
                  <a:tcPr marT="45720" marB="45720">
                    <a:solidFill>
                      <a:srgbClr val="FFFFFF"/>
                    </a:solidFill>
                  </a:tcPr>
                </a:tc>
                <a:tc>
                  <a:txBody>
                    <a:bodyPr/>
                    <a:lstStyle/>
                    <a:p>
                      <a:r>
                        <a:rPr sz="1200" b="0">
                          <a:solidFill>
                            <a:srgbClr val="111111"/>
                          </a:solidFill>
                          <a:latin typeface="Calibri"/>
                        </a:rPr>
                        <a:t>Make it safe</a:t>
                      </a:r>
                    </a:p>
                  </a:txBody>
                  <a:tcPr marT="45720" marB="45720">
                    <a:solidFill>
                      <a:srgbClr val="FFFFFF"/>
                    </a:solidFill>
                  </a:tcPr>
                </a:tc>
                <a:tc>
                  <a:txBody>
                    <a:bodyPr/>
                    <a:lstStyle/>
                    <a:p>
                      <a:r>
                        <a:rPr sz="1200" b="0">
                          <a:solidFill>
                            <a:srgbClr val="111111"/>
                          </a:solidFill>
                          <a:latin typeface="Calibri"/>
                        </a:rPr>
                        <a:t>Retry on Fail, error workflow, test then publish</a:t>
                      </a:r>
                    </a:p>
                  </a:txBody>
                  <a:tcPr marT="45720" marB="45720">
                    <a:solidFill>
                      <a:srgbClr val="FFFFFF"/>
                    </a:solidFill>
                  </a:tcPr>
                </a:tc>
              </a:tr>
              <a:tr h="466344">
                <a:tc>
                  <a:txBody>
                    <a:bodyPr/>
                    <a:lstStyle/>
                    <a:p>
                      <a:r>
                        <a:rPr sz="1200" b="0">
                          <a:solidFill>
                            <a:srgbClr val="111111"/>
                          </a:solidFill>
                          <a:latin typeface="Calibri"/>
                        </a:rPr>
                        <a:t>108 to 118</a:t>
                      </a:r>
                    </a:p>
                  </a:txBody>
                  <a:tcPr marT="45720" marB="45720">
                    <a:solidFill>
                      <a:srgbClr val="FFFFFF"/>
                    </a:solidFill>
                  </a:tcPr>
                </a:tc>
                <a:tc>
                  <a:txBody>
                    <a:bodyPr/>
                    <a:lstStyle/>
                    <a:p>
                      <a:r>
                        <a:rPr sz="1200" b="0">
                          <a:solidFill>
                            <a:srgbClr val="111111"/>
                          </a:solidFill>
                          <a:latin typeface="Calibri"/>
                        </a:rPr>
                        <a:t>Kahoot</a:t>
                      </a:r>
                    </a:p>
                  </a:txBody>
                  <a:tcPr marT="45720" marB="45720">
                    <a:solidFill>
                      <a:srgbClr val="FFFFFF"/>
                    </a:solidFill>
                  </a:tcPr>
                </a:tc>
                <a:tc>
                  <a:txBody>
                    <a:bodyPr/>
                    <a:lstStyle/>
                    <a:p>
                      <a:r>
                        <a:rPr sz="1200" b="0">
                          <a:solidFill>
                            <a:srgbClr val="111111"/>
                          </a:solidFill>
                          <a:latin typeface="Calibri"/>
                        </a:rPr>
                        <a:t>20 questions</a:t>
                      </a:r>
                    </a:p>
                  </a:txBody>
                  <a:tcPr marT="45720" marB="45720">
                    <a:solidFill>
                      <a:srgbClr val="FFFFFF"/>
                    </a:solidFill>
                  </a:tcPr>
                </a:tc>
              </a:tr>
              <a:tr h="466344">
                <a:tc>
                  <a:txBody>
                    <a:bodyPr/>
                    <a:lstStyle/>
                    <a:p>
                      <a:r>
                        <a:rPr sz="1200" b="0">
                          <a:solidFill>
                            <a:srgbClr val="111111"/>
                          </a:solidFill>
                          <a:latin typeface="Calibri"/>
                        </a:rPr>
                        <a:t>118 to 120</a:t>
                      </a:r>
                    </a:p>
                  </a:txBody>
                  <a:tcPr marT="45720" marB="45720">
                    <a:solidFill>
                      <a:srgbClr val="FFFFFF"/>
                    </a:solidFill>
                  </a:tcPr>
                </a:tc>
                <a:tc>
                  <a:txBody>
                    <a:bodyPr/>
                    <a:lstStyle/>
                    <a:p>
                      <a:r>
                        <a:rPr sz="1200" b="0">
                          <a:solidFill>
                            <a:srgbClr val="111111"/>
                          </a:solidFill>
                          <a:latin typeface="Calibri"/>
                        </a:rPr>
                        <a:t>Close</a:t>
                      </a:r>
                    </a:p>
                  </a:txBody>
                  <a:tcPr marT="45720" marB="45720">
                    <a:solidFill>
                      <a:srgbClr val="FFFFFF"/>
                    </a:solidFill>
                  </a:tcPr>
                </a:tc>
                <a:tc>
                  <a:txBody>
                    <a:bodyPr/>
                    <a:lstStyle/>
                    <a:p>
                      <a:r>
                        <a:rPr sz="1200" b="0">
                          <a:solidFill>
                            <a:srgbClr val="111111"/>
                          </a:solidFill>
                          <a:latin typeface="Calibri"/>
                        </a:rPr>
                        <a:t>Export your JSON; preview Session 6</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1. Open n8n together</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Same clicks, same minute, everyone</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Sign up in six clicks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600" b="1" i="0">
                <a:solidFill>
                  <a:srgbClr val="111111"/>
                </a:solidFill>
                <a:latin typeface="Calibri"/>
              </a:rPr>
              <a:t>1. n8n.io/pricing, then 'Start free trial'</a:t>
            </a:r>
          </a:p>
        </p:txBody>
      </p:sp>
      <p:sp>
        <p:nvSpPr>
          <p:cNvPr id="7" name="TextBox 6"/>
          <p:cNvSpPr txBox="1"/>
          <p:nvPr/>
        </p:nvSpPr>
        <p:spPr>
          <a:xfrm>
            <a:off x="1097280" y="1737360"/>
            <a:ext cx="10545775" cy="335280"/>
          </a:xfrm>
          <a:prstGeom prst="rect">
            <a:avLst/>
          </a:prstGeom>
          <a:noFill/>
        </p:spPr>
        <p:txBody>
          <a:bodyPr wrap="square" anchor="t" lIns="45720" rIns="45720" tIns="27432" bIns="27432">
            <a:spAutoFit/>
          </a:bodyPr>
          <a:lstStyle/>
          <a:p>
            <a:pPr algn="l"/>
            <a:r>
              <a:rPr sz="1300" b="0" i="0">
                <a:solidFill>
                  <a:srgbClr val="111111"/>
                </a:solidFill>
                <a:latin typeface="Calibri"/>
              </a:rPr>
              <a:t>n8n Cloud. No credit card required.</a:t>
            </a:r>
          </a:p>
        </p:txBody>
      </p:sp>
      <p:sp>
        <p:nvSpPr>
          <p:cNvPr id="8" name="Rectangle 7"/>
          <p:cNvSpPr/>
          <p:nvPr/>
        </p:nvSpPr>
        <p:spPr>
          <a:xfrm>
            <a:off x="1097280" y="207264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19151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118360"/>
            <a:ext cx="10545775" cy="457200"/>
          </a:xfrm>
          <a:prstGeom prst="rect">
            <a:avLst/>
          </a:prstGeom>
          <a:noFill/>
        </p:spPr>
        <p:txBody>
          <a:bodyPr wrap="square" anchor="t" lIns="45720" rIns="45720" tIns="27432" bIns="27432">
            <a:spAutoFit/>
          </a:bodyPr>
          <a:lstStyle/>
          <a:p>
            <a:pPr algn="l"/>
            <a:r>
              <a:rPr sz="1600" b="1" i="0">
                <a:solidFill>
                  <a:srgbClr val="111111"/>
                </a:solidFill>
                <a:latin typeface="Calibri"/>
              </a:rPr>
              <a:t>2. Your e-mail and a password</a:t>
            </a:r>
          </a:p>
        </p:txBody>
      </p:sp>
      <p:sp>
        <p:nvSpPr>
          <p:cNvPr id="11" name="TextBox 10"/>
          <p:cNvSpPr txBox="1"/>
          <p:nvPr/>
        </p:nvSpPr>
        <p:spPr>
          <a:xfrm>
            <a:off x="1097280" y="2529840"/>
            <a:ext cx="10545775" cy="335280"/>
          </a:xfrm>
          <a:prstGeom prst="rect">
            <a:avLst/>
          </a:prstGeom>
          <a:noFill/>
        </p:spPr>
        <p:txBody>
          <a:bodyPr wrap="square" anchor="t" lIns="45720" rIns="45720" tIns="27432" bIns="27432">
            <a:spAutoFit/>
          </a:bodyPr>
          <a:lstStyle/>
          <a:p>
            <a:pPr algn="l"/>
            <a:r>
              <a:rPr sz="1300" b="0" i="0">
                <a:solidFill>
                  <a:srgbClr val="111111"/>
                </a:solidFill>
                <a:latin typeface="Calibri"/>
              </a:rPr>
              <a:t>Later you connect one Google account to Sheets and Gmail: the same account that owns your sheet.</a:t>
            </a:r>
          </a:p>
        </p:txBody>
      </p:sp>
      <p:sp>
        <p:nvSpPr>
          <p:cNvPr id="12" name="Rectangle 11"/>
          <p:cNvSpPr/>
          <p:nvPr/>
        </p:nvSpPr>
        <p:spPr>
          <a:xfrm>
            <a:off x="1097280" y="28651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29839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2910840"/>
            <a:ext cx="10545775" cy="457200"/>
          </a:xfrm>
          <a:prstGeom prst="rect">
            <a:avLst/>
          </a:prstGeom>
          <a:noFill/>
        </p:spPr>
        <p:txBody>
          <a:bodyPr wrap="square" anchor="t" lIns="45720" rIns="45720" tIns="27432" bIns="27432">
            <a:spAutoFit/>
          </a:bodyPr>
          <a:lstStyle/>
          <a:p>
            <a:pPr algn="l"/>
            <a:r>
              <a:rPr sz="1600" b="1" i="0">
                <a:solidFill>
                  <a:srgbClr val="111111"/>
                </a:solidFill>
                <a:latin typeface="Calibri"/>
              </a:rPr>
              <a:t>3. Verify</a:t>
            </a:r>
          </a:p>
        </p:txBody>
      </p:sp>
      <p:sp>
        <p:nvSpPr>
          <p:cNvPr id="15" name="TextBox 14"/>
          <p:cNvSpPr txBox="1"/>
          <p:nvPr/>
        </p:nvSpPr>
        <p:spPr>
          <a:xfrm>
            <a:off x="1097280" y="3322320"/>
            <a:ext cx="10545775" cy="335280"/>
          </a:xfrm>
          <a:prstGeom prst="rect">
            <a:avLst/>
          </a:prstGeom>
          <a:noFill/>
        </p:spPr>
        <p:txBody>
          <a:bodyPr wrap="square" anchor="t" lIns="45720" rIns="45720" tIns="27432" bIns="27432">
            <a:spAutoFit/>
          </a:bodyPr>
          <a:lstStyle/>
          <a:p>
            <a:pPr algn="l"/>
            <a:r>
              <a:rPr sz="1300" b="0" i="0">
                <a:solidFill>
                  <a:srgbClr val="111111"/>
                </a:solidFill>
                <a:latin typeface="Calibri"/>
              </a:rPr>
              <a:t>Open the verification e-mail (check spam and Promotions). Stuck? The co-host moves you to the 'Stuck' room.</a:t>
            </a:r>
          </a:p>
        </p:txBody>
      </p:sp>
      <p:sp>
        <p:nvSpPr>
          <p:cNvPr id="16" name="Rectangle 15"/>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3703320"/>
            <a:ext cx="10545775" cy="457200"/>
          </a:xfrm>
          <a:prstGeom prst="rect">
            <a:avLst/>
          </a:prstGeom>
          <a:noFill/>
        </p:spPr>
        <p:txBody>
          <a:bodyPr wrap="square" anchor="t" lIns="45720" rIns="45720" tIns="27432" bIns="27432">
            <a:spAutoFit/>
          </a:bodyPr>
          <a:lstStyle/>
          <a:p>
            <a:pPr algn="l"/>
            <a:r>
              <a:rPr sz="1600" b="1" i="0">
                <a:solidFill>
                  <a:srgbClr val="111111"/>
                </a:solidFill>
                <a:latin typeface="Calibri"/>
              </a:rPr>
              <a:t>4. Name your workspace</a:t>
            </a:r>
          </a:p>
        </p:txBody>
      </p:sp>
      <p:sp>
        <p:nvSpPr>
          <p:cNvPr id="19" name="TextBox 18"/>
          <p:cNvSpPr txBox="1"/>
          <p:nvPr/>
        </p:nvSpPr>
        <p:spPr>
          <a:xfrm>
            <a:off x="1097280" y="4114800"/>
            <a:ext cx="10545775" cy="335280"/>
          </a:xfrm>
          <a:prstGeom prst="rect">
            <a:avLst/>
          </a:prstGeom>
          <a:noFill/>
        </p:spPr>
        <p:txBody>
          <a:bodyPr wrap="square" anchor="t" lIns="45720" rIns="45720" tIns="27432" bIns="27432">
            <a:spAutoFit/>
          </a:bodyPr>
          <a:lstStyle/>
          <a:p>
            <a:pPr algn="l"/>
            <a:r>
              <a:rPr sz="1300" b="0" i="0">
                <a:solidFill>
                  <a:srgbClr val="111111"/>
                </a:solidFill>
                <a:latin typeface="Calibri"/>
              </a:rPr>
              <a:t>Your workspace gets its own address, like yourname.app.n8n.cloud. Write it down.</a:t>
            </a:r>
          </a:p>
        </p:txBody>
      </p:sp>
      <p:sp>
        <p:nvSpPr>
          <p:cNvPr id="20" name="Rectangle 19"/>
          <p:cNvSpPr/>
          <p:nvPr/>
        </p:nvSpPr>
        <p:spPr>
          <a:xfrm>
            <a:off x="1097280" y="44500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45689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5</a:t>
            </a:r>
          </a:p>
        </p:txBody>
      </p:sp>
      <p:sp>
        <p:nvSpPr>
          <p:cNvPr id="22" name="TextBox 21"/>
          <p:cNvSpPr txBox="1"/>
          <p:nvPr/>
        </p:nvSpPr>
        <p:spPr>
          <a:xfrm>
            <a:off x="1097280" y="4495800"/>
            <a:ext cx="10545775" cy="457200"/>
          </a:xfrm>
          <a:prstGeom prst="rect">
            <a:avLst/>
          </a:prstGeom>
          <a:noFill/>
        </p:spPr>
        <p:txBody>
          <a:bodyPr wrap="square" anchor="t" lIns="45720" rIns="45720" tIns="27432" bIns="27432">
            <a:spAutoFit/>
          </a:bodyPr>
          <a:lstStyle/>
          <a:p>
            <a:pPr algn="l"/>
            <a:r>
              <a:rPr sz="1600" b="1" i="0">
                <a:solidFill>
                  <a:srgbClr val="111111"/>
                </a:solidFill>
                <a:latin typeface="Calibri"/>
              </a:rPr>
              <a:t>5. Two onboarding questions</a:t>
            </a:r>
          </a:p>
        </p:txBody>
      </p:sp>
      <p:sp>
        <p:nvSpPr>
          <p:cNvPr id="23" name="TextBox 22"/>
          <p:cNvSpPr txBox="1"/>
          <p:nvPr/>
        </p:nvSpPr>
        <p:spPr>
          <a:xfrm>
            <a:off x="1097280" y="4907280"/>
            <a:ext cx="10545775" cy="335280"/>
          </a:xfrm>
          <a:prstGeom prst="rect">
            <a:avLst/>
          </a:prstGeom>
          <a:noFill/>
        </p:spPr>
        <p:txBody>
          <a:bodyPr wrap="square" anchor="t" lIns="45720" rIns="45720" tIns="27432" bIns="27432">
            <a:spAutoFit/>
          </a:bodyPr>
          <a:lstStyle/>
          <a:p>
            <a:pPr algn="l"/>
            <a:r>
              <a:rPr sz="1300" b="0" i="0">
                <a:solidFill>
                  <a:srgbClr val="111111"/>
                </a:solidFill>
                <a:latin typeface="Calibri"/>
              </a:rPr>
              <a:t>Answer or skip; they only tailor suggestions.</a:t>
            </a:r>
          </a:p>
        </p:txBody>
      </p:sp>
      <p:sp>
        <p:nvSpPr>
          <p:cNvPr id="24" name="Rectangle 23"/>
          <p:cNvSpPr/>
          <p:nvPr/>
        </p:nvSpPr>
        <p:spPr>
          <a:xfrm>
            <a:off x="1097280" y="524256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8640" y="53614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6</a:t>
            </a:r>
          </a:p>
        </p:txBody>
      </p:sp>
      <p:sp>
        <p:nvSpPr>
          <p:cNvPr id="26" name="TextBox 25"/>
          <p:cNvSpPr txBox="1"/>
          <p:nvPr/>
        </p:nvSpPr>
        <p:spPr>
          <a:xfrm>
            <a:off x="1097280" y="5288280"/>
            <a:ext cx="10545775" cy="457200"/>
          </a:xfrm>
          <a:prstGeom prst="rect">
            <a:avLst/>
          </a:prstGeom>
          <a:noFill/>
        </p:spPr>
        <p:txBody>
          <a:bodyPr wrap="square" anchor="t" lIns="45720" rIns="45720" tIns="27432" bIns="27432">
            <a:spAutoFit/>
          </a:bodyPr>
          <a:lstStyle/>
          <a:p>
            <a:pPr algn="l"/>
            <a:r>
              <a:rPr sz="1600" b="1" i="0">
                <a:solidFill>
                  <a:srgbClr val="111111"/>
                </a:solidFill>
                <a:latin typeface="Calibri"/>
              </a:rPr>
              <a:t>6. 'Start automating'</a:t>
            </a:r>
          </a:p>
        </p:txBody>
      </p:sp>
      <p:sp>
        <p:nvSpPr>
          <p:cNvPr id="27" name="TextBox 26"/>
          <p:cNvSpPr txBox="1"/>
          <p:nvPr/>
        </p:nvSpPr>
        <p:spPr>
          <a:xfrm>
            <a:off x="1097280" y="5699760"/>
            <a:ext cx="10545775" cy="335280"/>
          </a:xfrm>
          <a:prstGeom prst="rect">
            <a:avLst/>
          </a:prstGeom>
          <a:noFill/>
        </p:spPr>
        <p:txBody>
          <a:bodyPr wrap="square" anchor="t" lIns="45720" rIns="45720" tIns="27432" bIns="27432">
            <a:spAutoFit/>
          </a:bodyPr>
          <a:lstStyle/>
          <a:p>
            <a:pPr algn="l"/>
            <a:r>
              <a:rPr sz="1300" b="0" i="0">
                <a:solidFill>
                  <a:srgbClr val="111111"/>
                </a:solidFill>
                <a:latin typeface="Calibri"/>
              </a:rPr>
              <a:t>You land on 'Let's build your first automation'. Stop there and wait for the group.</a:t>
            </a:r>
          </a:p>
        </p:txBody>
      </p:sp>
      <p:sp>
        <p:nvSpPr>
          <p:cNvPr id="28" name="Rectangle 2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30" name="TextBox 2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What you see while the workspace starts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1_instance_ready.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'Your instance is ready!' after about a minute. Click Start automating.</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trial clock is always on screen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2_trial_onboarding.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Top left: 14 days left, 0/1000 executions. Every test run counts as one execution.</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Three rules for the trial</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1. It lasts 14 days from today, and then the workspace is deleted. 2. It allows 1,000 executions; a test run is one. 3. At the end of every session: menu, Export JSON. Your workflows live in your Downloads folder, not only in n8n.</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Your daily habit: Export JSON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7_menu_export.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three-dots menu next to the workflow name. Import, From file loads it back into any workspace.</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20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2. What an automation platform is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 trigger, then actions, with data flowing between them</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Four platforms, one idea</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3" cy="4663440"/>
        </p:xfrm>
        <a:graphic>
          <a:graphicData uri="http://schemas.openxmlformats.org/drawingml/2006/table">
            <a:tbl>
              <a:tblPr firstRow="1" bandRow="1">
                <a:tableStyleId>{5C22544A-7EE6-4342-B048-85BDC9FD1C3A}</a:tableStyleId>
              </a:tblPr>
              <a:tblGrid>
                <a:gridCol w="1996994"/>
                <a:gridCol w="2884547"/>
                <a:gridCol w="3106436"/>
                <a:gridCol w="3106436"/>
              </a:tblGrid>
              <a:tr h="932688">
                <a:tc>
                  <a:txBody>
                    <a:bodyPr/>
                    <a:lstStyle/>
                    <a:p>
                      <a:r>
                        <a:rPr b="1" sz="1500">
                          <a:solidFill>
                            <a:srgbClr val="111111"/>
                          </a:solidFill>
                          <a:latin typeface="Calibri"/>
                        </a:rPr>
                        <a:t>Platform</a:t>
                      </a:r>
                    </a:p>
                  </a:txBody>
                  <a:tcPr>
                    <a:solidFill>
                      <a:srgbClr val="F2F2F2"/>
                    </a:solidFill>
                  </a:tcPr>
                </a:tc>
                <a:tc>
                  <a:txBody>
                    <a:bodyPr/>
                    <a:lstStyle/>
                    <a:p>
                      <a:r>
                        <a:rPr b="1" sz="1500">
                          <a:solidFill>
                            <a:srgbClr val="111111"/>
                          </a:solidFill>
                          <a:latin typeface="Calibri"/>
                        </a:rPr>
                        <a:t>Strength</a:t>
                      </a:r>
                    </a:p>
                  </a:txBody>
                  <a:tcPr>
                    <a:solidFill>
                      <a:srgbClr val="F2F2F2"/>
                    </a:solidFill>
                  </a:tcPr>
                </a:tc>
                <a:tc>
                  <a:txBody>
                    <a:bodyPr/>
                    <a:lstStyle/>
                    <a:p>
                      <a:r>
                        <a:rPr b="1" sz="1500">
                          <a:solidFill>
                            <a:srgbClr val="111111"/>
                          </a:solidFill>
                          <a:latin typeface="Calibri"/>
                        </a:rPr>
                        <a:t>Watch out for</a:t>
                      </a:r>
                    </a:p>
                  </a:txBody>
                  <a:tcPr>
                    <a:solidFill>
                      <a:srgbClr val="F2F2F2"/>
                    </a:solidFill>
                  </a:tcPr>
                </a:tc>
                <a:tc>
                  <a:txBody>
                    <a:bodyPr/>
                    <a:lstStyle/>
                    <a:p>
                      <a:r>
                        <a:rPr b="1" sz="1500">
                          <a:solidFill>
                            <a:srgbClr val="111111"/>
                          </a:solidFill>
                          <a:latin typeface="Calibri"/>
                        </a:rPr>
                        <a:t>Cost model</a:t>
                      </a:r>
                    </a:p>
                  </a:txBody>
                  <a:tcPr>
                    <a:solidFill>
                      <a:srgbClr val="F2F2F2"/>
                    </a:solidFill>
                  </a:tcPr>
                </a:tc>
              </a:tr>
              <a:tr h="932688">
                <a:tc>
                  <a:txBody>
                    <a:bodyPr/>
                    <a:lstStyle/>
                    <a:p>
                      <a:r>
                        <a:rPr sz="1500" b="0">
                          <a:solidFill>
                            <a:srgbClr val="111111"/>
                          </a:solidFill>
                          <a:latin typeface="Calibri"/>
                        </a:rPr>
                        <a:t>n8n</a:t>
                      </a:r>
                    </a:p>
                  </a:txBody>
                  <a:tcPr marT="45720" marB="45720">
                    <a:solidFill>
                      <a:srgbClr val="FFFFFF"/>
                    </a:solidFill>
                  </a:tcPr>
                </a:tc>
                <a:tc>
                  <a:txBody>
                    <a:bodyPr/>
                    <a:lstStyle/>
                    <a:p>
                      <a:r>
                        <a:rPr sz="1500" b="0">
                          <a:solidFill>
                            <a:srgbClr val="111111"/>
                          </a:solidFill>
                          <a:latin typeface="Calibri"/>
                        </a:rPr>
                        <a:t>Self-host or cloud; branching; code when needed; AI nodes</a:t>
                      </a:r>
                    </a:p>
                  </a:txBody>
                  <a:tcPr marT="45720" marB="45720">
                    <a:solidFill>
                      <a:srgbClr val="FFFFFF"/>
                    </a:solidFill>
                  </a:tcPr>
                </a:tc>
                <a:tc>
                  <a:txBody>
                    <a:bodyPr/>
                    <a:lstStyle/>
                    <a:p>
                      <a:r>
                        <a:rPr sz="1500" b="0">
                          <a:solidFill>
                            <a:srgbClr val="111111"/>
                          </a:solidFill>
                          <a:latin typeface="Calibri"/>
                        </a:rPr>
                        <a:t>More technical settings</a:t>
                      </a:r>
                    </a:p>
                  </a:txBody>
                  <a:tcPr marT="45720" marB="45720">
                    <a:solidFill>
                      <a:srgbClr val="FFFFFF"/>
                    </a:solidFill>
                  </a:tcPr>
                </a:tc>
                <a:tc>
                  <a:txBody>
                    <a:bodyPr/>
                    <a:lstStyle/>
                    <a:p>
                      <a:r>
                        <a:rPr sz="1500" b="0">
                          <a:solidFill>
                            <a:srgbClr val="111111"/>
                          </a:solidFill>
                          <a:latin typeface="Calibri"/>
                        </a:rPr>
                        <a:t>Per workflow execution (cloud); free self-hosted</a:t>
                      </a:r>
                    </a:p>
                  </a:txBody>
                  <a:tcPr marT="45720" marB="45720">
                    <a:solidFill>
                      <a:srgbClr val="FFFFFF"/>
                    </a:solidFill>
                  </a:tcPr>
                </a:tc>
              </a:tr>
              <a:tr h="932688">
                <a:tc>
                  <a:txBody>
                    <a:bodyPr/>
                    <a:lstStyle/>
                    <a:p>
                      <a:r>
                        <a:rPr sz="1500" b="0">
                          <a:solidFill>
                            <a:srgbClr val="111111"/>
                          </a:solidFill>
                          <a:latin typeface="Calibri"/>
                        </a:rPr>
                        <a:t>Make</a:t>
                      </a:r>
                    </a:p>
                  </a:txBody>
                  <a:tcPr marT="45720" marB="45720">
                    <a:solidFill>
                      <a:srgbClr val="FFFFFF"/>
                    </a:solidFill>
                  </a:tcPr>
                </a:tc>
                <a:tc>
                  <a:txBody>
                    <a:bodyPr/>
                    <a:lstStyle/>
                    <a:p>
                      <a:r>
                        <a:rPr sz="1500" b="0">
                          <a:solidFill>
                            <a:srgbClr val="111111"/>
                          </a:solidFill>
                          <a:latin typeface="Calibri"/>
                        </a:rPr>
                        <a:t>Visual scenarios, many apps</a:t>
                      </a:r>
                    </a:p>
                  </a:txBody>
                  <a:tcPr marT="45720" marB="45720">
                    <a:solidFill>
                      <a:srgbClr val="FFFFFF"/>
                    </a:solidFill>
                  </a:tcPr>
                </a:tc>
                <a:tc>
                  <a:txBody>
                    <a:bodyPr/>
                    <a:lstStyle/>
                    <a:p>
                      <a:r>
                        <a:rPr sz="1500" b="0">
                          <a:solidFill>
                            <a:srgbClr val="111111"/>
                          </a:solidFill>
                          <a:latin typeface="Calibri"/>
                        </a:rPr>
                        <a:t>Operations add up fast</a:t>
                      </a:r>
                    </a:p>
                  </a:txBody>
                  <a:tcPr marT="45720" marB="45720">
                    <a:solidFill>
                      <a:srgbClr val="FFFFFF"/>
                    </a:solidFill>
                  </a:tcPr>
                </a:tc>
                <a:tc>
                  <a:txBody>
                    <a:bodyPr/>
                    <a:lstStyle/>
                    <a:p>
                      <a:r>
                        <a:rPr sz="1500" b="0">
                          <a:solidFill>
                            <a:srgbClr val="111111"/>
                          </a:solidFill>
                          <a:latin typeface="Calibri"/>
                        </a:rPr>
                        <a:t>Per operation</a:t>
                      </a:r>
                    </a:p>
                  </a:txBody>
                  <a:tcPr marT="45720" marB="45720">
                    <a:solidFill>
                      <a:srgbClr val="FFFFFF"/>
                    </a:solidFill>
                  </a:tcPr>
                </a:tc>
              </a:tr>
              <a:tr h="932688">
                <a:tc>
                  <a:txBody>
                    <a:bodyPr/>
                    <a:lstStyle/>
                    <a:p>
                      <a:r>
                        <a:rPr sz="1500" b="0">
                          <a:solidFill>
                            <a:srgbClr val="111111"/>
                          </a:solidFill>
                          <a:latin typeface="Calibri"/>
                        </a:rPr>
                        <a:t>Zapier</a:t>
                      </a:r>
                    </a:p>
                  </a:txBody>
                  <a:tcPr marT="45720" marB="45720">
                    <a:solidFill>
                      <a:srgbClr val="FFFFFF"/>
                    </a:solidFill>
                  </a:tcPr>
                </a:tc>
                <a:tc>
                  <a:txBody>
                    <a:bodyPr/>
                    <a:lstStyle/>
                    <a:p>
                      <a:r>
                        <a:rPr sz="1500" b="0">
                          <a:solidFill>
                            <a:srgbClr val="111111"/>
                          </a:solidFill>
                          <a:latin typeface="Calibri"/>
                        </a:rPr>
                        <a:t>Largest app catalogue, simplest start</a:t>
                      </a:r>
                    </a:p>
                  </a:txBody>
                  <a:tcPr marT="45720" marB="45720">
                    <a:solidFill>
                      <a:srgbClr val="FFFFFF"/>
                    </a:solidFill>
                  </a:tcPr>
                </a:tc>
                <a:tc>
                  <a:txBody>
                    <a:bodyPr/>
                    <a:lstStyle/>
                    <a:p>
                      <a:r>
                        <a:rPr sz="1500" b="0">
                          <a:solidFill>
                            <a:srgbClr val="111111"/>
                          </a:solidFill>
                          <a:latin typeface="Calibri"/>
                        </a:rPr>
                        <a:t>Price per task at scale</a:t>
                      </a:r>
                    </a:p>
                  </a:txBody>
                  <a:tcPr marT="45720" marB="45720">
                    <a:solidFill>
                      <a:srgbClr val="FFFFFF"/>
                    </a:solidFill>
                  </a:tcPr>
                </a:tc>
                <a:tc>
                  <a:txBody>
                    <a:bodyPr/>
                    <a:lstStyle/>
                    <a:p>
                      <a:r>
                        <a:rPr sz="1500" b="0">
                          <a:solidFill>
                            <a:srgbClr val="111111"/>
                          </a:solidFill>
                          <a:latin typeface="Calibri"/>
                        </a:rPr>
                        <a:t>Per task</a:t>
                      </a:r>
                    </a:p>
                  </a:txBody>
                  <a:tcPr marT="45720" marB="45720">
                    <a:solidFill>
                      <a:srgbClr val="FFFFFF"/>
                    </a:solidFill>
                  </a:tcPr>
                </a:tc>
              </a:tr>
              <a:tr h="932688">
                <a:tc>
                  <a:txBody>
                    <a:bodyPr/>
                    <a:lstStyle/>
                    <a:p>
                      <a:r>
                        <a:rPr sz="1500" b="0">
                          <a:solidFill>
                            <a:srgbClr val="111111"/>
                          </a:solidFill>
                          <a:latin typeface="Calibri"/>
                        </a:rPr>
                        <a:t>Power Automate</a:t>
                      </a:r>
                    </a:p>
                  </a:txBody>
                  <a:tcPr marT="45720" marB="45720">
                    <a:solidFill>
                      <a:srgbClr val="FFFFFF"/>
                    </a:solidFill>
                  </a:tcPr>
                </a:tc>
                <a:tc>
                  <a:txBody>
                    <a:bodyPr/>
                    <a:lstStyle/>
                    <a:p>
                      <a:r>
                        <a:rPr sz="1500" b="0">
                          <a:solidFill>
                            <a:srgbClr val="111111"/>
                          </a:solidFill>
                          <a:latin typeface="Calibri"/>
                        </a:rPr>
                        <a:t>Inside Microsoft 365</a:t>
                      </a:r>
                    </a:p>
                  </a:txBody>
                  <a:tcPr marT="45720" marB="45720">
                    <a:solidFill>
                      <a:srgbClr val="FFFFFF"/>
                    </a:solidFill>
                  </a:tcPr>
                </a:tc>
                <a:tc>
                  <a:txBody>
                    <a:bodyPr/>
                    <a:lstStyle/>
                    <a:p>
                      <a:r>
                        <a:rPr sz="1500" b="0">
                          <a:solidFill>
                            <a:srgbClr val="111111"/>
                          </a:solidFill>
                          <a:latin typeface="Calibri"/>
                        </a:rPr>
                        <a:t>Licensing tiers</a:t>
                      </a:r>
                    </a:p>
                  </a:txBody>
                  <a:tcPr marT="45720" marB="45720">
                    <a:solidFill>
                      <a:srgbClr val="FFFFFF"/>
                    </a:solidFill>
                  </a:tcPr>
                </a:tc>
                <a:tc>
                  <a:txBody>
                    <a:bodyPr/>
                    <a:lstStyle/>
                    <a:p>
                      <a:r>
                        <a:rPr sz="1500" b="0">
                          <a:solidFill>
                            <a:srgbClr val="111111"/>
                          </a:solidFill>
                          <a:latin typeface="Calibri"/>
                        </a:rPr>
                        <a:t>Per user or per flow</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Where you are now</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3_overview.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Build a workflow opens an empty canvas. (Run live demo and Build an agent come later.)</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Every workflow starts with one trigger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5_trigger_picker.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'What triggers this workflow?' Manually, on an app event, on a schedule, a webhook, a form, another workflow, a chat message.</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Trigger and actions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Trigger (exactly one)</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When does this run?</a:t>
            </a:r>
          </a:p>
          <a:p>
            <a:pPr>
              <a:spcAft>
                <a:spcPts val="1000"/>
              </a:spcAft>
            </a:pPr>
            <a:r>
              <a:rPr sz="1800">
                <a:solidFill>
                  <a:srgbClr val="111111"/>
                </a:solidFill>
                <a:latin typeface="Calibri"/>
              </a:rPr>
              <a:t>•  A form is submitted, a schedule fires, an e-mail arrives, a webhook is called</a:t>
            </a:r>
          </a:p>
          <a:p>
            <a:pPr>
              <a:spcAft>
                <a:spcPts val="1000"/>
              </a:spcAft>
            </a:pPr>
            <a:r>
              <a:rPr sz="1800">
                <a:solidFill>
                  <a:srgbClr val="111111"/>
                </a:solidFill>
                <a:latin typeface="Calibri"/>
              </a:rPr>
              <a:t>•  In Session 4 terms: the start event of the future-state map</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Actions (one or many)</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What happens next, in order</a:t>
            </a:r>
          </a:p>
          <a:p>
            <a:pPr>
              <a:spcAft>
                <a:spcPts val="1000"/>
              </a:spcAft>
            </a:pPr>
            <a:r>
              <a:rPr sz="1800">
                <a:solidFill>
                  <a:srgbClr val="111111"/>
                </a:solidFill>
                <a:latin typeface="Calibri"/>
              </a:rPr>
              <a:t>•  Read or write a sheet, send an e-mail, check a condition, call an API</a:t>
            </a:r>
          </a:p>
          <a:p>
            <a:pPr>
              <a:spcAft>
                <a:spcPts val="1000"/>
              </a:spcAft>
            </a:pPr>
            <a:r>
              <a:rPr sz="1800">
                <a:solidFill>
                  <a:srgbClr val="111111"/>
                </a:solidFill>
                <a:latin typeface="Calibri"/>
              </a:rPr>
              <a:t>•  In Session 4 terms: the steps in the Automation lane</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Data moves as items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items_flow.png"/>
          <p:cNvPicPr>
            <a:picLocks noChangeAspect="1"/>
          </p:cNvPicPr>
          <p:nvPr/>
        </p:nvPicPr>
        <p:blipFill>
          <a:blip r:embed="rId2"/>
          <a:stretch>
            <a:fillRect/>
          </a:stretch>
        </p:blipFill>
        <p:spPr>
          <a:xfrm>
            <a:off x="1266672" y="1280160"/>
            <a:ext cx="9658350"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Each node runs once per item it receives. Three rows, three e-mails.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An item is a set of fields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3_form_output_json.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One form submission = 1 item with 7 fields (plus submittedAt and formMode). Switch Schema, Table, JSON to read it.</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Credentials: sign in once, reuse everywhere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5_gmail_credential.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Sign in with Google creates a credential in n8n's credential store. Nodes refer to it; the secret never sits in a node.</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trap we hit while preparing: 403 Forbidden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9_error_403_no_permission.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caller does not have permission': n8n was connected to a different Google account from the one that owns the sheet.</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35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3. Demo: the leave request runs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Session 4's first build, as a real workflow</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One step, one node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map_to_nodes.png"/>
          <p:cNvPicPr>
            <a:picLocks noChangeAspect="1"/>
          </p:cNvPicPr>
          <p:nvPr/>
        </p:nvPicPr>
        <p:blipFill>
          <a:blip r:embed="rId2"/>
          <a:stretch>
            <a:fillRect/>
          </a:stretch>
        </p:blipFill>
        <p:spPr>
          <a:xfrm>
            <a:off x="2339822" y="1280160"/>
            <a:ext cx="7512050"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Automation lane from Session 4, read as n8n nodes. The manager's decision stays human.</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workflow, before credentials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6_leave_canvas_unconnected.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Red triangles = something to fill in, here the Google credentials and the sheet link. Publish stays disabled until they are gone.</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trigger: an n8n form</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09_form_node.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Test URL works while you click Execute; Production URL works after you publish. Fields: name, two e-mails, type, dates, notes.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What the employee sees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0_test_form.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'This is a test version of your form' disappears on the production URL.</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policy checks (written once by the instructor)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7_code_policy_checks.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Working days, notice needed (2 or 10), balance, quarter end. You will not write code today; Edit Fields and IF can do simple checks.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condition: All checks pass?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4_if_node_empty.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One condition, 'Checks pass' is true. True goes to the manager, false goes to HR.</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Run 1: checks pass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20_run_pass_green.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Green path: logged as 'Pending manager', decision card e-mailed. '1 item' on every arrow.</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Runs 2 and 3: flagged for HR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21_run_flagged_executions.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False path: logged and sent to HR, not to the manager. Left: the Executions list, every run kept.</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record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23_sheet_rows_status.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Reason and Status written by the workflow: one 'Pending manager', two 'Flagged for HR' with the reason in plain words.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the demo deliberately does not do</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It does not approve or decline: the manager decides (Day 5 builds the approval gate). It does not chase the manager yet (candidate 4, a reminder, comes later). It does not read the free-text note (Session 6 adds the AI step).</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55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Break</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Five minutes. Keep your n8n tab open.</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60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4. Lab: request intake</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Build it yourself, in breakout rooms, 40 minutes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40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Lab steps 1 to 4</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The sheet</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Google Sheets, new sheet 'Requests', headers: Timestamp, Name, Email, Department, Amount, Description, Status. Same Google account as n8n.</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The trigger</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New workflow 'M5 Request intake'. On form submission: Name, Email, Department (dropdown), Amount (number), Description. Execute step, submit once, read the output.</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Log the row</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Google Sheets, Append row. Sign in with Google. Drag each field into its column; Status = New. Execute step; check the sheet.</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4. Branch on amount</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IF: Amount, Number, is greater than, 500. Test once above and once below 500.</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Lab steps 5 to 8</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5. Two e-mails</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Gmail, Send on each branch: 'needs approval' (true) and 'being processed' (false). To: drag Email; body with Name and Amount.</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6. Guard</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IF right after the form: Email is not empty AND Amount is greater than 0. False: Edit Fields Status = Incomplete, then append the row. No e-mail.</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7. Retry and error workflow</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Gmail Settings: Retry On Fail, 3 tries, 5000 ms. A second workflow 'Error notifier': Error Trigger, then Gmail to you.</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8. Test, then publish</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Three tests: small, large, no amount. Three rows, two e-mails. Then Publish, copy the production URL, open Executions.</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Trap 1: an empty number is 0, not empty</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Tested on 11 October 2026: when Amount is left blank, the n8n form sends Amount = 0. A guard 'Amount is not empty' lets it through, logs it as New and sends an e-mail. Use 'Amount is greater than 0'.</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form participants build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24_lab_form.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Name and Department required; Email and Amount optional on purpose, so the guard has something to catch.</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finished lab, run 3: incomplete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26_lab_run_incomplete.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Form, Complete?, then either Log request and Amount &gt; 500 (two e-mails) or Mark incomplete and Log incomplete.</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Three tests, three rows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25_lab_sheet_rows.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200 = New (being processed), 900 = New (needs approval), blank = Incomplete with no e-mail.</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In your breakout room</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Everyone builds in their own workspace; one person shares their screen at a time</a:t>
            </a:r>
          </a:p>
          <a:p>
            <a:pPr>
              <a:spcAft>
                <a:spcPts val="1200"/>
              </a:spcAft>
            </a:pPr>
            <a:r>
              <a:rPr sz="2200">
                <a:solidFill>
                  <a:srgbClr val="111111"/>
                </a:solidFill>
                <a:latin typeface="Calibri"/>
              </a:rPr>
              <a:t>•  Stuck for more than three minutes? Ask for help (button at the bottom of Zoom)</a:t>
            </a:r>
          </a:p>
          <a:p>
            <a:pPr>
              <a:spcAft>
                <a:spcPts val="1200"/>
              </a:spcAft>
            </a:pPr>
            <a:r>
              <a:rPr sz="2200">
                <a:solidFill>
                  <a:srgbClr val="111111"/>
                </a:solidFill>
                <a:latin typeface="Calibri"/>
              </a:rPr>
              <a:t>•  Execute step after every node, and read the output panel before adding the next</a:t>
            </a:r>
          </a:p>
          <a:p>
            <a:pPr>
              <a:spcAft>
                <a:spcPts val="1200"/>
              </a:spcAft>
            </a:pPr>
            <a:r>
              <a:rPr sz="2200">
                <a:solidFill>
                  <a:srgbClr val="111111"/>
                </a:solidFill>
                <a:latin typeface="Calibri"/>
              </a:rPr>
              <a:t>•  Done early? Add the Error notifier, then help someone in your room</a:t>
            </a:r>
          </a:p>
          <a:p>
            <a:pPr>
              <a:spcAft>
                <a:spcPts val="1200"/>
              </a:spcAft>
            </a:pPr>
            <a:r>
              <a:rPr sz="2200">
                <a:solidFill>
                  <a:srgbClr val="111111"/>
                </a:solidFill>
                <a:latin typeface="Calibri"/>
              </a:rPr>
              <a:t>•  At minute 98 the rooms close; bring a screenshot of your sheet</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100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5. Make it safe, then publish</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Retry, an error workflow, and the difference between test and production</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8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Retry on Fail</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s5_shot_16_retry_on_fail.jpg"/>
          <p:cNvPicPr>
            <a:picLocks noChangeAspect="1"/>
          </p:cNvPicPr>
          <p:nvPr/>
        </p:nvPicPr>
        <p:blipFill>
          <a:blip r:embed="rId2"/>
          <a:stretch>
            <a:fillRect/>
          </a:stretch>
        </p:blipFill>
        <p:spPr>
          <a:xfrm>
            <a:off x="1740911" y="1280160"/>
            <a:ext cx="8709873" cy="416051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Node Settings: Retry On Fail, Max. Tries 3, Wait 5000 ms. Most failures are a mail server or an API that hiccups once.</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Screenshot: n8n Cloud (n8n GmbH), captured 11 October 2026 on the course trial workspace</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When it still fails: the error workflow</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Build once</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A separate workflow: Error Trigger, then Gmail to you</a:t>
            </a:r>
          </a:p>
          <a:p>
            <a:pPr>
              <a:spcAft>
                <a:spcPts val="1000"/>
              </a:spcAft>
            </a:pPr>
            <a:r>
              <a:rPr sz="1800">
                <a:solidFill>
                  <a:srgbClr val="111111"/>
                </a:solidFill>
                <a:latin typeface="Calibri"/>
              </a:rPr>
              <a:t>•  Message: workflow name and the execution link</a:t>
            </a:r>
          </a:p>
          <a:p>
            <a:pPr>
              <a:spcAft>
                <a:spcPts val="1000"/>
              </a:spcAft>
            </a:pPr>
            <a:r>
              <a:rPr sz="1800">
                <a:solidFill>
                  <a:srgbClr val="111111"/>
                </a:solidFill>
                <a:latin typeface="Calibri"/>
              </a:rPr>
              <a:t>•  Publish it</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Attach to every workflow</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Workflow menu, Settings, Error workflow</a:t>
            </a:r>
          </a:p>
          <a:p>
            <a:pPr>
              <a:spcAft>
                <a:spcPts val="1000"/>
              </a:spcAft>
            </a:pPr>
            <a:r>
              <a:rPr sz="1800">
                <a:solidFill>
                  <a:srgbClr val="111111"/>
                </a:solidFill>
                <a:latin typeface="Calibri"/>
              </a:rPr>
              <a:t>•  Now a silent failure becomes an e-mail</a:t>
            </a:r>
          </a:p>
          <a:p>
            <a:pPr>
              <a:spcAft>
                <a:spcPts val="1000"/>
              </a:spcAft>
            </a:pPr>
            <a:r>
              <a:rPr sz="1800">
                <a:solidFill>
                  <a:srgbClr val="111111"/>
                </a:solidFill>
                <a:latin typeface="Calibri"/>
              </a:rPr>
              <a:t>•  The link opens the failed run in Executions</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Test, then publish</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Testing</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Execute step: one node, with the data before it</a:t>
            </a:r>
          </a:p>
          <a:p>
            <a:pPr>
              <a:spcAft>
                <a:spcPts val="1000"/>
              </a:spcAft>
            </a:pPr>
            <a:r>
              <a:rPr sz="1800">
                <a:solidFill>
                  <a:srgbClr val="111111"/>
                </a:solidFill>
                <a:latin typeface="Calibri"/>
              </a:rPr>
              <a:t>•  Execute workflow: the whole run, once</a:t>
            </a:r>
          </a:p>
          <a:p>
            <a:pPr>
              <a:spcAft>
                <a:spcPts val="1000"/>
              </a:spcAft>
            </a:pPr>
            <a:r>
              <a:rPr sz="1800">
                <a:solidFill>
                  <a:srgbClr val="111111"/>
                </a:solidFill>
                <a:latin typeface="Calibri"/>
              </a:rPr>
              <a:t>•  Test URL listens for one submission</a:t>
            </a:r>
          </a:p>
          <a:p>
            <a:pPr>
              <a:spcAft>
                <a:spcPts val="1000"/>
              </a:spcAft>
            </a:pPr>
            <a:r>
              <a:rPr sz="1800">
                <a:solidFill>
                  <a:srgbClr val="111111"/>
                </a:solidFill>
                <a:latin typeface="Calibri"/>
              </a:rPr>
              <a:t>•  Runs show in Executions with a flask icon</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Published</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Publish (top right) makes it live</a:t>
            </a:r>
          </a:p>
          <a:p>
            <a:pPr>
              <a:spcAft>
                <a:spcPts val="1000"/>
              </a:spcAft>
            </a:pPr>
            <a:r>
              <a:rPr sz="1800">
                <a:solidFill>
                  <a:srgbClr val="111111"/>
                </a:solidFill>
                <a:latin typeface="Calibri"/>
              </a:rPr>
              <a:t>•  Production URL works for everyone, any time</a:t>
            </a:r>
          </a:p>
          <a:p>
            <a:pPr>
              <a:spcAft>
                <a:spcPts val="1000"/>
              </a:spcAft>
            </a:pPr>
            <a:r>
              <a:rPr sz="1800">
                <a:solidFill>
                  <a:srgbClr val="111111"/>
                </a:solidFill>
                <a:latin typeface="Calibri"/>
              </a:rPr>
              <a:t>•  n8n 2.43 and later: no publishing with unconnected required inputs</a:t>
            </a:r>
          </a:p>
          <a:p>
            <a:pPr>
              <a:spcAft>
                <a:spcPts val="1000"/>
              </a:spcAft>
            </a:pPr>
            <a:r>
              <a:rPr sz="1800">
                <a:solidFill>
                  <a:srgbClr val="111111"/>
                </a:solidFill>
                <a:latin typeface="Calibri"/>
              </a:rPr>
              <a:t>•  Change something? Test again, publish again</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108</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Kahoot</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20 questions on today</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pic>
        <p:nvPicPr>
          <p:cNvPr id="7" name="Picture 6" descr="kahoot_logo.png"/>
          <p:cNvPicPr>
            <a:picLocks noChangeAspect="1"/>
          </p:cNvPicPr>
          <p:nvPr/>
        </p:nvPicPr>
        <p:blipFill>
          <a:blip r:embed="rId2"/>
          <a:stretch>
            <a:fillRect/>
          </a:stretch>
        </p:blipFill>
        <p:spPr>
          <a:xfrm>
            <a:off x="6888175" y="2206219"/>
            <a:ext cx="4754880" cy="1622602"/>
          </a:xfrm>
          <a:prstGeom prst="rect">
            <a:avLst/>
          </a:prstGeom>
        </p:spPr>
      </p:pic>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Join the Kahoot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How to join</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kahoot.it on your phone, or the Kahoot app</a:t>
            </a:r>
          </a:p>
          <a:p>
            <a:pPr>
              <a:spcAft>
                <a:spcPts val="1000"/>
              </a:spcAft>
            </a:pPr>
            <a:r>
              <a:rPr sz="1800">
                <a:solidFill>
                  <a:srgbClr val="111111"/>
                </a:solidFill>
                <a:latin typeface="Calibri"/>
              </a:rPr>
              <a:t>•  Enter the PIN on the screen</a:t>
            </a:r>
          </a:p>
          <a:p>
            <a:pPr>
              <a:spcAft>
                <a:spcPts val="1000"/>
              </a:spcAft>
            </a:pPr>
            <a:r>
              <a:rPr sz="1800">
                <a:solidFill>
                  <a:srgbClr val="111111"/>
                </a:solidFill>
                <a:latin typeface="Calibri"/>
              </a:rPr>
              <a:t>•  Use your real first name</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The rules</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20 seconds per question</a:t>
            </a:r>
          </a:p>
          <a:p>
            <a:pPr>
              <a:spcAft>
                <a:spcPts val="1000"/>
              </a:spcAft>
            </a:pPr>
            <a:r>
              <a:rPr sz="1800">
                <a:solidFill>
                  <a:srgbClr val="111111"/>
                </a:solidFill>
                <a:latin typeface="Calibri"/>
              </a:rPr>
              <a:t>•  Correct answers are spread evenly over the four colours</a:t>
            </a:r>
          </a:p>
          <a:p>
            <a:pPr>
              <a:spcAft>
                <a:spcPts val="1000"/>
              </a:spcAft>
            </a:pPr>
            <a:r>
              <a:rPr sz="1800">
                <a:solidFill>
                  <a:srgbClr val="111111"/>
                </a:solidFill>
                <a:latin typeface="Calibri"/>
              </a:rPr>
              <a:t>•  The rest arrive as a challenge link for homework</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Deliverable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A published 'M5 Request intake' workflow with three test runs (small, large, incomplete), the Requests sheet showing three rows, and the exported JSON file. Optional: the Error notifier attached. Saved as M5-request-intake.</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Before you close the tab</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Menu, Export JSON, for every workflow you built today. The trial deletes the workspace after 14 days; your JSON files are your copy.</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Key takeaways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One trigger, then actions; data moves as items and each node runs once per item.</a:t>
            </a:r>
          </a:p>
          <a:p>
            <a:pPr>
              <a:spcAft>
                <a:spcPts val="1200"/>
              </a:spcAft>
            </a:pPr>
            <a:r>
              <a:rPr sz="2200">
                <a:solidFill>
                  <a:srgbClr val="111111"/>
                </a:solidFill>
                <a:latin typeface="Calibri"/>
              </a:rPr>
              <a:t>•  Every node implements one step of the future-state map; the human decisions stay human.</a:t>
            </a:r>
          </a:p>
          <a:p>
            <a:pPr>
              <a:spcAft>
                <a:spcPts val="1200"/>
              </a:spcAft>
            </a:pPr>
            <a:r>
              <a:rPr sz="2200">
                <a:solidFill>
                  <a:srgbClr val="111111"/>
                </a:solidFill>
                <a:latin typeface="Calibri"/>
              </a:rPr>
              <a:t>•  Execute step after every node and read its output; test the empty case on purpose.</a:t>
            </a:r>
          </a:p>
          <a:p>
            <a:pPr>
              <a:spcAft>
                <a:spcPts val="1200"/>
              </a:spcAft>
            </a:pPr>
            <a:r>
              <a:rPr sz="2200">
                <a:solidFill>
                  <a:srgbClr val="111111"/>
                </a:solidFill>
                <a:latin typeface="Calibri"/>
              </a:rPr>
              <a:t>•  Credentials live in the credential store, on the same account as your data.</a:t>
            </a:r>
          </a:p>
          <a:p>
            <a:pPr>
              <a:spcAft>
                <a:spcPts val="1200"/>
              </a:spcAft>
            </a:pPr>
            <a:r>
              <a:rPr sz="2200">
                <a:solidFill>
                  <a:srgbClr val="111111"/>
                </a:solidFill>
                <a:latin typeface="Calibri"/>
              </a:rPr>
              <a:t>•  Retry, an error workflow, then publish. Export your JSON every day.</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Latest reading: n8n and automation at scale (2026)</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n8n 2.43.0 release</a:t>
            </a:r>
          </a:p>
        </p:txBody>
      </p:sp>
      <p:sp>
        <p:nvSpPr>
          <p:cNvPr id="6" name="TextBox 5"/>
          <p:cNvSpPr txBox="1"/>
          <p:nvPr/>
        </p:nvSpPr>
        <p:spPr>
          <a:xfrm>
            <a:off x="548640" y="169164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n8n release notes · 6 October 2026 · docs.n8n.io/release-notes</a:t>
            </a:r>
          </a:p>
        </p:txBody>
      </p:sp>
      <p:sp>
        <p:nvSpPr>
          <p:cNvPr id="7" name="TextBox 6"/>
          <p:cNvSpPr txBox="1"/>
          <p:nvPr/>
        </p:nvSpPr>
        <p:spPr>
          <a:xfrm>
            <a:off x="548640" y="1965960"/>
            <a:ext cx="11094415" cy="899160"/>
          </a:xfrm>
          <a:prstGeom prst="rect">
            <a:avLst/>
          </a:prstGeom>
          <a:noFill/>
        </p:spPr>
        <p:txBody>
          <a:bodyPr wrap="square" anchor="t" lIns="45720" rIns="45720" tIns="27432" bIns="27432">
            <a:spAutoFit/>
          </a:bodyPr>
          <a:lstStyle/>
          <a:p>
            <a:pPr algn="l"/>
            <a:r>
              <a:rPr sz="1300" b="0" i="0">
                <a:solidFill>
                  <a:srgbClr val="111111"/>
                </a:solidFill>
                <a:latin typeface="Calibri"/>
              </a:rPr>
              <a:t>Stronger guardrails and better publishing: a workflow with unconnected required inputs can no longer be published. The red triangles you saw today now block Publish.</a:t>
            </a:r>
          </a:p>
        </p:txBody>
      </p:sp>
      <p:sp>
        <p:nvSpPr>
          <p:cNvPr id="8" name="Rectangle 7"/>
          <p:cNvSpPr/>
          <p:nvPr/>
        </p:nvSpPr>
        <p:spPr>
          <a:xfrm>
            <a:off x="548640" y="286512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1084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No-Code Workflow Automation at Scale for IT Operations Teams</a:t>
            </a:r>
          </a:p>
        </p:txBody>
      </p:sp>
      <p:sp>
        <p:nvSpPr>
          <p:cNvPr id="10" name="TextBox 9"/>
          <p:cNvSpPr txBox="1"/>
          <p:nvPr/>
        </p:nvSpPr>
        <p:spPr>
          <a:xfrm>
            <a:off x="548640" y="327660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Intellistack · 16 September 2026 · intellistack.com/resources/blog/no-code-workflow-automation-at-scale-for-it-operations-teams</a:t>
            </a:r>
          </a:p>
        </p:txBody>
      </p:sp>
      <p:sp>
        <p:nvSpPr>
          <p:cNvPr id="11" name="TextBox 10"/>
          <p:cNvSpPr txBox="1"/>
          <p:nvPr/>
        </p:nvSpPr>
        <p:spPr>
          <a:xfrm>
            <a:off x="548640" y="3550920"/>
            <a:ext cx="11094415" cy="899160"/>
          </a:xfrm>
          <a:prstGeom prst="rect">
            <a:avLst/>
          </a:prstGeom>
          <a:noFill/>
        </p:spPr>
        <p:txBody>
          <a:bodyPr wrap="square" anchor="t" lIns="45720" rIns="45720" tIns="27432" bIns="27432">
            <a:spAutoFit/>
          </a:bodyPr>
          <a:lstStyle/>
          <a:p>
            <a:pPr algn="l"/>
            <a:r>
              <a:rPr sz="1300" b="0" i="0">
                <a:solidFill>
                  <a:srgbClr val="111111"/>
                </a:solidFill>
                <a:latin typeface="Calibri"/>
              </a:rPr>
              <a:t>When building outruns governance you get workflow sprawl and unknown owners. Why every automation needs an owner (Session 4) and an error workflow (today).</a:t>
            </a:r>
          </a:p>
        </p:txBody>
      </p:sp>
      <p:sp>
        <p:nvSpPr>
          <p:cNvPr id="12" name="Rectangle 11"/>
          <p:cNvSpPr/>
          <p:nvPr/>
        </p:nvSpPr>
        <p:spPr>
          <a:xfrm>
            <a:off x="548640" y="445008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49580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In The Loop 2026, n8n's first conference</a:t>
            </a:r>
          </a:p>
        </p:txBody>
      </p:sp>
      <p:sp>
        <p:nvSpPr>
          <p:cNvPr id="14" name="TextBox 13"/>
          <p:cNvSpPr txBox="1"/>
          <p:nvPr/>
        </p:nvSpPr>
        <p:spPr>
          <a:xfrm>
            <a:off x="548640" y="486156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n8n · 13 to 14 October 2026, Berlin · n8n.io/intheloop</a:t>
            </a:r>
          </a:p>
        </p:txBody>
      </p:sp>
      <p:sp>
        <p:nvSpPr>
          <p:cNvPr id="15" name="TextBox 14"/>
          <p:cNvSpPr txBox="1"/>
          <p:nvPr/>
        </p:nvSpPr>
        <p:spPr>
          <a:xfrm>
            <a:off x="548640" y="5135880"/>
            <a:ext cx="11094415" cy="899160"/>
          </a:xfrm>
          <a:prstGeom prst="rect">
            <a:avLst/>
          </a:prstGeom>
          <a:noFill/>
        </p:spPr>
        <p:txBody>
          <a:bodyPr wrap="square" anchor="t" lIns="45720" rIns="45720" tIns="27432" bIns="27432">
            <a:spAutoFit/>
          </a:bodyPr>
          <a:lstStyle/>
          <a:p>
            <a:pPr algn="l"/>
            <a:r>
              <a:rPr sz="1300" b="0" i="0">
                <a:solidFill>
                  <a:srgbClr val="111111"/>
                </a:solidFill>
                <a:latin typeface="Calibri"/>
              </a:rPr>
              <a:t>Talks and workshops on production automation and agents, this week. Recordings are a good follow-up to Sessions 5 and 6.</a:t>
            </a:r>
          </a:p>
        </p:txBody>
      </p:sp>
      <p:sp>
        <p:nvSpPr>
          <p:cNvPr id="16" name="Rectangle 1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18" name="TextBox 1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References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663440"/>
          </a:xfrm>
          <a:prstGeom prst="rect">
            <a:avLst/>
          </a:prstGeom>
          <a:noFill/>
        </p:spPr>
        <p:txBody>
          <a:bodyPr wrap="square" lIns="45720" rIns="45720">
            <a:spAutoFit/>
          </a:bodyPr>
          <a:lstStyle/>
          <a:p>
            <a:pPr>
              <a:spcAft>
                <a:spcPts val="600"/>
              </a:spcAft>
            </a:pPr>
            <a:r>
              <a:rPr sz="1400">
                <a:solidFill>
                  <a:srgbClr val="111111"/>
                </a:solidFill>
                <a:latin typeface="Calibri"/>
              </a:rPr>
              <a:t>1.  Al-Banna, A. (2026). AI Administrator, Module 5: Automation Basics with n8n. albanna-tutorials.com/ai-administrator/05_automation_basics_n8n.html</a:t>
            </a:r>
          </a:p>
          <a:p>
            <a:pPr>
              <a:spcAft>
                <a:spcPts val="600"/>
              </a:spcAft>
            </a:pPr>
            <a:r>
              <a:rPr sz="1400">
                <a:solidFill>
                  <a:srgbClr val="111111"/>
                </a:solidFill>
                <a:latin typeface="Calibri"/>
              </a:rPr>
              <a:t>2.  n8n documentation: n8n Form Trigger node. docs.n8n.io/integrations/builtin/core-nodes/n8n-nodes-base.formtrigger</a:t>
            </a:r>
          </a:p>
          <a:p>
            <a:pPr>
              <a:spcAft>
                <a:spcPts val="600"/>
              </a:spcAft>
            </a:pPr>
            <a:r>
              <a:rPr sz="1400">
                <a:solidFill>
                  <a:srgbClr val="111111"/>
                </a:solidFill>
                <a:latin typeface="Calibri"/>
              </a:rPr>
              <a:t>3.  n8n documentation: Google credentials and the Google Sheets node. docs.n8n.io/integrations/builtin/credentials/google</a:t>
            </a:r>
          </a:p>
          <a:p>
            <a:pPr>
              <a:spcAft>
                <a:spcPts val="600"/>
              </a:spcAft>
            </a:pPr>
            <a:r>
              <a:rPr sz="1400">
                <a:solidFill>
                  <a:srgbClr val="111111"/>
                </a:solidFill>
                <a:latin typeface="Calibri"/>
              </a:rPr>
              <a:t>4.  n8n documentation: Error handling, Error Trigger and Retry on Fail. docs.n8n.io/flow-logic/error-handling</a:t>
            </a:r>
          </a:p>
          <a:p>
            <a:pPr>
              <a:spcAft>
                <a:spcPts val="600"/>
              </a:spcAft>
            </a:pPr>
            <a:r>
              <a:rPr sz="1400">
                <a:solidFill>
                  <a:srgbClr val="111111"/>
                </a:solidFill>
                <a:latin typeface="Calibri"/>
              </a:rPr>
              <a:t>5.  n8n documentation: Data structure, items. docs.n8n.io/data/data-structure</a:t>
            </a:r>
          </a:p>
          <a:p>
            <a:pPr>
              <a:spcAft>
                <a:spcPts val="600"/>
              </a:spcAft>
            </a:pPr>
            <a:r>
              <a:rPr sz="1400">
                <a:solidFill>
                  <a:srgbClr val="111111"/>
                </a:solidFill>
                <a:latin typeface="Calibri"/>
              </a:rPr>
              <a:t>6.  n8n release notes 2.43.0 (6 October 2026): publishing blocked for workflows with unconnected required inputs. docs.n8n.io/release-notes</a:t>
            </a:r>
          </a:p>
          <a:p>
            <a:pPr>
              <a:spcAft>
                <a:spcPts val="600"/>
              </a:spcAft>
            </a:pPr>
            <a:r>
              <a:rPr sz="1400">
                <a:solidFill>
                  <a:srgbClr val="111111"/>
                </a:solidFill>
                <a:latin typeface="Calibri"/>
              </a:rPr>
              <a:t>7.  n8n Cloud pricing and free trial (14 days, 1,000 executions). n8n.io/pricing</a:t>
            </a:r>
          </a:p>
          <a:p>
            <a:pPr>
              <a:spcAft>
                <a:spcPts val="600"/>
              </a:spcAft>
            </a:pPr>
            <a:r>
              <a:rPr sz="1400">
                <a:solidFill>
                  <a:srgbClr val="111111"/>
                </a:solidFill>
                <a:latin typeface="Calibri"/>
              </a:rPr>
              <a:t>8.  Al-Banna, A. (2026). AI Administrator, Module 4: Workflow Mapping II, Designing the Future State (the leave-request future state used in the demo).</a:t>
            </a:r>
          </a:p>
          <a:p>
            <a:pPr>
              <a:spcAft>
                <a:spcPts val="600"/>
              </a:spcAft>
            </a:pPr>
            <a:r>
              <a:rPr sz="1400">
                <a:solidFill>
                  <a:srgbClr val="111111"/>
                </a:solidFill>
                <a:latin typeface="Calibri"/>
              </a:rPr>
              <a:t>9.  IEEE CS Region 8 AI Caravan (2026). AI Administrator Track Curriculum. aicaravan.org</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3 · Session 5</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